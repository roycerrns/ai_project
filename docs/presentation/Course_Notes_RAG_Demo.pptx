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3a6b8f2-8804-ff1f-ad14-686237c05e02}">
          <p14:sldIdLst>
            <p14:sldId id="256"/>
            <p14:sldId id="257"/>
            <p14:sldId id="258"/>
          </p14:sldIdLst>
        </p14:section>
        <p14:section name="System" id="{8c251018-9530-1884-27d7-78f600df60c6}">
          <p14:sldIdLst>
            <p14:sldId id="259"/>
            <p14:sldId id="260"/>
            <p14:sldId id="261"/>
          </p14:sldIdLst>
        </p14:section>
        <p14:section name="Features" id="{5f791043-f0e4-666c-e8dc-e92f59ca3895}">
          <p14:sldIdLst>
            <p14:sldId id="262"/>
            <p14:sldId id="263"/>
            <p14:sldId id="264"/>
          </p14:sldIdLst>
        </p14:section>
        <p14:section name="Evaluation" id="{4fe09fbc-0421-ae5f-acd6-c72b56e47afc}">
          <p14:sldIdLst>
            <p14:sldId id="265"/>
            <p14:sldId id="266"/>
          </p14:sldIdLst>
        </p14:section>
        <p14:section name="Syllabus" id="{b44831b3-a480-27c7-baf4-6a8bb6cfdd9d}">
          <p14:sldIdLst>
            <p14:sldId id="267"/>
            <p14:sldId id="268"/>
            <p14:sldId id="269"/>
          </p14:sldIdLst>
        </p14:section>
        <p14:section name="Wrap-up" id="{b4218203-4db6-5ce6-83a1-944bdfe43e6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72A"/>
                </a:solidFill>
                <a:latin typeface="+mn-lt"/>
              </a:defRPr>
            </a:pPr>
            <a:r>
              <a:rPr sz="1200" b="0" i="0" u="none" strike="noStrike">
                <a:solidFill>
                  <a:srgbClr val="0F172A"/>
                </a:solidFill>
                <a:latin typeface="+mn-lt"/>
              </a:rPr>
              <a:t>Chance of being picked vs. a section at M = 0.5</a:t>
            </a:r>
          </a:p>
        </c:rich>
      </c:tx>
      <c:layout/>
      <c:overlay val="0"/>
    </c:title>
    <c:autoTitleDeleted val="0"/>
    <c:plotArea>
      <c:layout/>
      <c:barChart>
        <c:barDir val="col"/>
        <c:grouping val="clustered"/>
        <c:varyColors val="0"/>
        <c:ser>
          <c:idx val="0"/>
          <c:order val="0"/>
          <c:tx>
            <c:strRef>
              <c:f>Sheet1!$B$1</c:f>
              <c:strCache>
                <c:ptCount val="1"/>
                <c:pt idx="0">
                  <c:v>Relative chance</c:v>
                </c:pt>
              </c:strCache>
            </c:strRef>
          </c:tx>
          <c:spPr>
            <a:solidFill>
              <a:srgbClr val="4F46E5"/>
            </a:solidFill>
            <a:effectLst/>
          </c:spPr>
          <c:invertIfNegative val="0"/>
          <c:dLbls>
            <c:numFmt formatCode="0.0&quot;×&quot;"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Sheet1!$A$2:$A$6</c:f>
              <c:multiLvlStrCache>
                <c:ptCount val="5"/>
                <c:lvl>
                  <c:pt idx="0">
                    <c:v>M = 0.1</c:v>
                  </c:pt>
                  <c:pt idx="1">
                    <c:v>M = 0.3</c:v>
                  </c:pt>
                  <c:pt idx="2">
                    <c:v>M = 0.5</c:v>
                  </c:pt>
                  <c:pt idx="3">
                    <c:v>M = 0.7</c:v>
                  </c:pt>
                  <c:pt idx="4">
                    <c:v>M = 0.9</c:v>
                  </c:pt>
                </c:lvl>
              </c:multiLvlStrCache>
            </c:multiLvlStrRef>
          </c:cat>
          <c:val>
            <c:numRef>
              <c:f>Sheet1!$B$2:$B$6</c:f>
              <c:numCache>
                <c:formatCode>General</c:formatCode>
                <c:ptCount val="5"/>
                <c:pt idx="0">
                  <c:v>2.98</c:v>
                </c:pt>
                <c:pt idx="1">
                  <c:v>1.86</c:v>
                </c:pt>
                <c:pt idx="2">
                  <c:v>1</c:v>
                </c:pt>
                <c:pt idx="3">
                  <c:v>0.4</c:v>
                </c:pt>
                <c:pt idx="4">
                  <c:v>0.07</c:v>
                </c:pt>
              </c:numCache>
            </c:numRef>
          </c:val>
        </c:ser>
        <c:dLbls>
          <c:numFmt formatCode="0.0&quot;×&quot;"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Offline stand-ins</c:v>
                </c:pt>
              </c:strCache>
            </c:strRef>
          </c:tx>
          <c:spPr>
            <a:solidFill>
              <a:srgbClr val="94A3B8"/>
            </a:solidFill>
            <a:effectLst/>
          </c:spPr>
          <c:invertIfNegative val="0"/>
          <c:dLbls>
            <c:numFmt formatCode="0" sourceLinked="0"/>
            <c:txPr>
              <a:bodyPr/>
              <a:lstStyle/>
              <a:p>
                <a:pPr>
                  <a:defRPr b="0" i="0" strike="noStrike" sz="9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Hit@1</c:v>
                  </c:pt>
                  <c:pt idx="1">
                    <c:v>Hit@5</c:v>
                  </c:pt>
                  <c:pt idx="2">
                    <c:v>MRR</c:v>
                  </c:pt>
                  <c:pt idx="3">
                    <c:v>Page accuracy</c:v>
                  </c:pt>
                </c:lvl>
              </c:multiLvlStrCache>
            </c:multiLvlStrRef>
          </c:cat>
          <c:val>
            <c:numRef>
              <c:f>Sheet1!$B$2:$B$5</c:f>
              <c:numCache>
                <c:formatCode>General</c:formatCode>
                <c:ptCount val="4"/>
                <c:pt idx="0">
                  <c:v>100</c:v>
                </c:pt>
                <c:pt idx="1">
                  <c:v>100</c:v>
                </c:pt>
                <c:pt idx="2">
                  <c:v>100</c:v>
                </c:pt>
                <c:pt idx="3">
                  <c:v>90</c:v>
                </c:pt>
              </c:numCache>
            </c:numRef>
          </c:val>
        </c:ser>
        <c:ser>
          <c:idx val="1"/>
          <c:order val="1"/>
          <c:tx>
            <c:strRef>
              <c:f>Sheet1!$C$1</c:f>
              <c:strCache>
                <c:ptCount val="1"/>
                <c:pt idx="0">
                  <c:v>Real models, first run</c:v>
                </c:pt>
              </c:strCache>
            </c:strRef>
          </c:tx>
          <c:spPr>
            <a:solidFill>
              <a:srgbClr val="D97706"/>
            </a:solidFill>
            <a:effectLst/>
          </c:spPr>
          <c:invertIfNegative val="0"/>
          <c:dLbls>
            <c:numFmt formatCode="0" sourceLinked="0"/>
            <c:txPr>
              <a:bodyPr/>
              <a:lstStyle/>
              <a:p>
                <a:pPr>
                  <a:defRPr b="0" i="0" strike="noStrike" sz="9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Hit@1</c:v>
                  </c:pt>
                  <c:pt idx="1">
                    <c:v>Hit@5</c:v>
                  </c:pt>
                  <c:pt idx="2">
                    <c:v>MRR</c:v>
                  </c:pt>
                  <c:pt idx="3">
                    <c:v>Page accuracy</c:v>
                  </c:pt>
                </c:lvl>
              </c:multiLvlStrCache>
            </c:multiLvlStrRef>
          </c:cat>
          <c:val>
            <c:numRef>
              <c:f>Sheet1!$C$2:$C$5</c:f>
              <c:numCache>
                <c:formatCode>General</c:formatCode>
                <c:ptCount val="4"/>
                <c:pt idx="0">
                  <c:v>90</c:v>
                </c:pt>
                <c:pt idx="1">
                  <c:v>90</c:v>
                </c:pt>
                <c:pt idx="2">
                  <c:v>90</c:v>
                </c:pt>
                <c:pt idx="3">
                  <c:v>90</c:v>
                </c:pt>
              </c:numCache>
            </c:numRef>
          </c:val>
        </c:ser>
        <c:ser>
          <c:idx val="2"/>
          <c:order val="2"/>
          <c:tx>
            <c:strRef>
              <c:f>Sheet1!$D$1</c:f>
              <c:strCache>
                <c:ptCount val="1"/>
                <c:pt idx="0">
                  <c:v>Real models, final</c:v>
                </c:pt>
              </c:strCache>
            </c:strRef>
          </c:tx>
          <c:spPr>
            <a:solidFill>
              <a:srgbClr val="0D9488"/>
            </a:solidFill>
            <a:effectLst/>
          </c:spPr>
          <c:invertIfNegative val="0"/>
          <c:dLbls>
            <c:numFmt formatCode="0" sourceLinked="0"/>
            <c:txPr>
              <a:bodyPr/>
              <a:lstStyle/>
              <a:p>
                <a:pPr>
                  <a:defRPr b="0" i="0" strike="noStrike" sz="9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Hit@1</c:v>
                  </c:pt>
                  <c:pt idx="1">
                    <c:v>Hit@5</c:v>
                  </c:pt>
                  <c:pt idx="2">
                    <c:v>MRR</c:v>
                  </c:pt>
                  <c:pt idx="3">
                    <c:v>Page accuracy</c:v>
                  </c:pt>
                </c:lvl>
              </c:multiLvlStrCache>
            </c:multiLvlStrRef>
          </c:cat>
          <c:val>
            <c:numRef>
              <c:f>Sheet1!$D$2:$D$5</c:f>
              <c:numCache>
                <c:formatCode>General</c:formatCode>
                <c:ptCount val="4"/>
                <c:pt idx="0">
                  <c:v>100</c:v>
                </c:pt>
                <c:pt idx="1">
                  <c:v>100</c:v>
                </c:pt>
                <c:pt idx="2">
                  <c:v>100</c:v>
                </c:pt>
                <c:pt idx="3">
                  <c:v>100</c:v>
                </c:pt>
              </c:numCache>
            </c:numRef>
          </c:val>
        </c:ser>
        <c:dLbls>
          <c:numFmt formatCode="0" sourceLinked="0"/>
          <c:txPr>
            <a:bodyPr/>
            <a:lstStyle/>
            <a:p>
              <a:pPr>
                <a:defRPr b="0" i="0" strike="noStrike" sz="9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idea: answers come only from the student's own notes, every claim is cited to a page, and quizzes adapt to weak sections. The card on the right previews the three outcomes the grounding check can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answers aren't grounded in the course material, lecture PDFs are hard to parse, and studying is passive. The research quote motivates the quiz half of the project: retrieval practice is one of the most effective study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starts here. Show the three tabs. The screenshot is a real answer from Qwen 2.5 7B: green chips are verified citations, dashed 'auto' chips were added by the grounding check, and the viewer on the right highlights the paragraph the citation points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stages. The first two run once per upload as a background job; the last three run for every question in about a quarter of a second plus generation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Docling's layout model plus formula recognition is what makes lecture notes usable. The preview on the right is the parsed Markdown for the SVM lecture with equations rendered by KaTeX. The four sample PDFs (13 pages, including a scanned handwritten page) ingest in about 41 seconds on the laptop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funnel. Two rankings of child chunks are fused with RRF, promoted to parent sections, then a cross-encoder decides relevance. The 0.35 threshold is what turns 'probably irrelevant' into an explicit Not Found instead of a hallucinated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ask the vanishing-gradient question and click a chip. Explain the four checks. The small model tended to cite once per paragraph; repeating the rule in the user turn plus server-side completion took verified coverage from 29% to 100% of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 a 3-question quiz on KKT conditions. After answering, every option shows its rationale and trap type, the source quote links to the page, and the mastery change is shown. Only the first attempt counts toward mastery.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model is one number per parent section. A correct first try pulls it toward 1, a wrong one toward 0. Sampling with a squared weight strongly favours weak sections without ever starving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 of ten tricky questions. Offline stand-ins use hashing embeddings and lexical reranking, so they test the pipeline, not the models. With BGE-M3 and the cross-encoder, the first run missed only the table question; linearizing tables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fixes that mattered most, measured on the real stack. On the right, the test suites: unit and end-to-end tests run offline in about a minute; the live suite exercises Docling, BGE-M3, the reranker and Qwen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project maps to BCSE306L. Modules 1, 2 and 4 are used directly; local search is used in spirit by the generate-repair-retry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is the heart of the project: information retrieval, information extraction and probabilistic language processing. Module 5 appears in the probabilistic ranking, the relevance threshold and the student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BCSE306L course outcomes, each with the concrete part of the project that demonstrates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that only showed up with the real models, each with a measured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benchmark is small and synthetic, and a 7B model is not deterministic. The next steps target exactly those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The repository has the code, tests, benchmark results, this deck and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5120640" cy="274320"/>
          </a:xfrm>
          <a:prstGeom prst="rect">
            <a:avLst/>
          </a:prstGeom>
          <a:noFill/>
          <a:ln/>
        </p:spPr>
        <p:txBody>
          <a:bodyPr wrap="square" rtlCol="0"/>
          <a:lstStyle>
            <a:lvl1pPr indent="0" marL="0">
              <a:buNone/>
              <a:defRPr lang="en-US" sz="1100" b="1" spc="4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1280160"/>
            <a:ext cx="5120640" cy="13258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8046720" cy="274320"/>
          </a:xfrm>
          <a:prstGeom prst="rect">
            <a:avLst/>
          </a:prstGeom>
          <a:noFill/>
          <a:ln/>
        </p:spPr>
        <p:txBody>
          <a:bodyPr wrap="square" rtlCol="0"/>
          <a:lstStyle>
            <a:lvl1pPr indent="0" marL="0">
              <a:buNone/>
              <a:defRPr lang="en-US" sz="1100" b="1" spc="4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1280160"/>
            <a:ext cx="8046720" cy="10972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rtlCol="0"/>
          <a:lstStyle>
            <a:lvl1pPr indent="0" marL="0">
              <a:buNone/>
              <a:defRPr lang="en-US" sz="1000" b="1" spc="400" kern="0" dirty="0">
                <a:solidFill>
                  <a:schemeClr val="accent2"/>
                </a:solidFill>
              </a:defRPr>
            </a:lvl1pPr>
          </a:lstStyle>
          <a:p>
            <a:pPr indent="0" marL="0">
              <a:buNone/>
            </a:pP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4" name="Text 0"/>
          <p:cNvSpPr/>
          <p:nvPr/>
        </p:nvSpPr>
        <p:spPr>
          <a:xfrm>
            <a:off x="457200" y="4800600"/>
            <a:ext cx="6858000" cy="201168"/>
          </a:xfrm>
          <a:prstGeom prst="rect">
            <a:avLst/>
          </a:prstGeom>
          <a:noFill/>
          <a:ln/>
        </p:spPr>
        <p:txBody>
          <a:bodyPr wrap="square" lIns="0" tIns="0" rIns="0" bIns="0" rtlCol="0" anchor="ctr"/>
          <a:lstStyle/>
          <a:p>
            <a:pPr indent="0" marL="0">
              <a:buNone/>
            </a:pPr>
            <a:r>
              <a:rPr lang="en-US" sz="900" dirty="0">
                <a:solidFill>
                  <a:schemeClr val="tx2"/>
                </a:solidFill>
              </a:rPr>
              <a:t>Course Notes RAG &amp; Adaptive Quiz Engine  ·  BCSE306L Artificial Intelligence</a:t>
            </a:r>
            <a:endParaRPr lang="en-US" sz="9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5120640" cy="274320"/>
          </a:xfrm>
          <a:prstGeom prst="rect">
            <a:avLst/>
          </a:prstGeom>
          <a:noFill/>
          <a:ln/>
        </p:spPr>
        <p:txBody>
          <a:bodyPr wrap="square" lIns="0" tIns="0" rIns="0" bIns="0" rtlCol="0"/>
          <a:lstStyle/>
          <a:p>
            <a:pPr indent="0" marL="0">
              <a:buNone/>
            </a:pPr>
            <a:r>
              <a:rPr lang="en-US" sz="1100" b="1" spc="400" kern="0" dirty="0">
                <a:solidFill>
                  <a:schemeClr val="accent2"/>
                </a:solidFill>
              </a:rPr>
              <a:t>IMPLEMENTATION &amp; DEMO</a:t>
            </a:r>
            <a:endParaRPr lang="en-US" sz="1100" dirty="0"/>
          </a:p>
        </p:txBody>
      </p:sp>
      <p:sp>
        <p:nvSpPr>
          <p:cNvPr id="3" name="Text 0"/>
          <p:cNvSpPr/>
          <p:nvPr>
            <p:ph idx="101" type="title" hasCustomPrompt="1"/>
          </p:nvPr>
        </p:nvSpPr>
        <p:spPr>
          <a:xfrm>
            <a:off x="548640" y="1280160"/>
            <a:ext cx="5120640" cy="13258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Course Notes RAG &amp; Adaptive Quiz Engine</a:t>
            </a:r>
            <a:endParaRPr lang="en-US" sz="3200" dirty="0"/>
          </a:p>
        </p:txBody>
      </p:sp>
      <p:sp>
        <p:nvSpPr>
          <p:cNvPr id="4" name="Text 2"/>
          <p:cNvSpPr txBox="1"/>
          <p:nvPr/>
        </p:nvSpPr>
        <p:spPr>
          <a:xfrm>
            <a:off x="548640" y="2697480"/>
            <a:ext cx="4937760" cy="685800"/>
          </a:xfrm>
          <a:prstGeom prst="rect">
            <a:avLst/>
          </a:prstGeom>
          <a:noFill/>
          <a:ln/>
        </p:spPr>
        <p:txBody>
          <a:bodyPr wrap="square" lIns="0" tIns="0" rIns="0" bIns="0" rtlCol="0" anchor="t"/>
          <a:lstStyle/>
          <a:p>
            <a:pPr indent="0" marL="0">
              <a:buNone/>
            </a:pPr>
            <a:r>
              <a:rPr lang="en-US" sz="1400" dirty="0">
                <a:solidFill>
                  <a:schemeClr val="bg2"/>
                </a:solidFill>
              </a:rPr>
              <a:t>A study assistant that answers only from your own lecture PDFs, cites the exact page, and quizzes you on the sections you know least.</a:t>
            </a:r>
            <a:endParaRPr lang="en-US" sz="1400" dirty="0"/>
          </a:p>
        </p:txBody>
      </p:sp>
      <p:sp>
        <p:nvSpPr>
          <p:cNvPr id="5" name="Text 3"/>
          <p:cNvSpPr txBox="1"/>
          <p:nvPr/>
        </p:nvSpPr>
        <p:spPr>
          <a:xfrm>
            <a:off x="548640" y="3520440"/>
            <a:ext cx="5120640" cy="228600"/>
          </a:xfrm>
          <a:prstGeom prst="rect">
            <a:avLst/>
          </a:prstGeom>
          <a:noFill/>
          <a:ln/>
        </p:spPr>
        <p:txBody>
          <a:bodyPr wrap="square" lIns="0" tIns="0" rIns="0" bIns="0" rtlCol="0" anchor="t"/>
          <a:lstStyle/>
          <a:p>
            <a:pPr indent="0" marL="0">
              <a:buNone/>
            </a:pPr>
            <a:r>
              <a:rPr lang="en-US" sz="1100" b="1" dirty="0">
                <a:solidFill>
                  <a:schemeClr val="accent2"/>
                </a:solidFill>
              </a:rPr>
              <a:t>BCSE306L Artificial Intelligence  ·  Vellore Institute of Technology</a:t>
            </a:r>
            <a:endParaRPr lang="en-US" sz="1100" dirty="0"/>
          </a:p>
        </p:txBody>
      </p:sp>
      <p:sp>
        <p:nvSpPr>
          <p:cNvPr id="6" name="Text 4"/>
          <p:cNvSpPr txBox="1"/>
          <p:nvPr/>
        </p:nvSpPr>
        <p:spPr>
          <a:xfrm>
            <a:off x="548640" y="3840480"/>
            <a:ext cx="5120640" cy="731520"/>
          </a:xfrm>
          <a:prstGeom prst="rect">
            <a:avLst/>
          </a:prstGeom>
          <a:noFill/>
          <a:ln/>
        </p:spPr>
        <p:txBody>
          <a:bodyPr wrap="square" lIns="0" tIns="0" rIns="0" bIns="0" rtlCol="0" anchor="t"/>
          <a:lstStyle/>
          <a:p>
            <a:pPr indent="0" marL="0">
              <a:spcAft>
                <a:spcPts val="200"/>
              </a:spcAft>
              <a:buNone/>
            </a:pPr>
            <a:r>
              <a:rPr lang="en-US" sz="1100" dirty="0">
                <a:solidFill>
                  <a:schemeClr val="bg1"/>
                </a:solidFill>
              </a:rPr>
              <a:t>Royce B Selvaraj (24BCB0078)</a:t>
            </a:r>
            <a:endParaRPr lang="en-US" sz="1100" dirty="0"/>
          </a:p>
          <a:p>
            <a:pPr indent="0" marL="0">
              <a:spcAft>
                <a:spcPts val="200"/>
              </a:spcAft>
              <a:buNone/>
            </a:pPr>
            <a:r>
              <a:rPr lang="en-US" sz="1100" dirty="0">
                <a:solidFill>
                  <a:schemeClr val="bg1"/>
                </a:solidFill>
              </a:rPr>
              <a:t>Srujan Buddharaju (24BDS0347)</a:t>
            </a:r>
            <a:endParaRPr lang="en-US" sz="1100" dirty="0"/>
          </a:p>
          <a:p>
            <a:pPr indent="0" marL="0">
              <a:spcAft>
                <a:spcPts val="200"/>
              </a:spcAft>
              <a:buNone/>
            </a:pPr>
            <a:r>
              <a:rPr lang="en-US" sz="1100" dirty="0">
                <a:solidFill>
                  <a:schemeClr val="bg1"/>
                </a:solidFill>
              </a:rPr>
              <a:t>Pranali Kamisetty ([Registration Number])</a:t>
            </a:r>
            <a:endParaRPr lang="en-US" sz="1100" dirty="0"/>
          </a:p>
        </p:txBody>
      </p:sp>
      <p:sp>
        <p:nvSpPr>
          <p:cNvPr id="7" name="Shape 5"/>
          <p:cNvSpPr/>
          <p:nvPr/>
        </p:nvSpPr>
        <p:spPr>
          <a:xfrm>
            <a:off x="5989320" y="868680"/>
            <a:ext cx="2697480" cy="3429000"/>
          </a:xfrm>
          <a:prstGeom prst="roundRect">
            <a:avLst>
              <a:gd name="adj" fmla="val 2712"/>
            </a:avLst>
          </a:prstGeom>
          <a:solidFill>
            <a:srgbClr val="1E293B"/>
          </a:solidFill>
          <a:ln w="9525">
            <a:solidFill>
              <a:srgbClr val="1E293B"/>
            </a:solidFill>
            <a:prstDash val="solid"/>
          </a:ln>
        </p:spPr>
      </p:sp>
      <p:sp>
        <p:nvSpPr>
          <p:cNvPr id="8" name="Text 6"/>
          <p:cNvSpPr txBox="1"/>
          <p:nvPr/>
        </p:nvSpPr>
        <p:spPr>
          <a:xfrm>
            <a:off x="6217920" y="1051560"/>
            <a:ext cx="2286000" cy="228600"/>
          </a:xfrm>
          <a:prstGeom prst="rect">
            <a:avLst/>
          </a:prstGeom>
          <a:noFill/>
          <a:ln/>
        </p:spPr>
        <p:txBody>
          <a:bodyPr wrap="square" lIns="0" tIns="0" rIns="0" bIns="0" rtlCol="0" anchor="t"/>
          <a:lstStyle/>
          <a:p>
            <a:pPr indent="0" marL="0">
              <a:buNone/>
            </a:pPr>
            <a:r>
              <a:rPr lang="en-US" sz="900" b="1" spc="200" kern="0" dirty="0">
                <a:solidFill>
                  <a:schemeClr val="bg2"/>
                </a:solidFill>
              </a:rPr>
              <a:t>EVERY ANSWER IS CHECKED</a:t>
            </a:r>
            <a:endParaRPr lang="en-US" sz="900" dirty="0"/>
          </a:p>
        </p:txBody>
      </p:sp>
      <p:sp>
        <p:nvSpPr>
          <p:cNvPr id="9" name="Shape 7"/>
          <p:cNvSpPr/>
          <p:nvPr/>
        </p:nvSpPr>
        <p:spPr>
          <a:xfrm>
            <a:off x="6217920" y="1463040"/>
            <a:ext cx="502920" cy="502920"/>
          </a:xfrm>
          <a:prstGeom prst="ellipse">
            <a:avLst/>
          </a:prstGeom>
          <a:solidFill>
            <a:srgbClr val="059669"/>
          </a:solidFill>
          <a:ln w="12700">
            <a:solidFill>
              <a:srgbClr val="059669"/>
            </a:solidFill>
            <a:prstDash val="solid"/>
          </a:ln>
        </p:spPr>
      </p:sp>
      <p:pic>
        <p:nvPicPr>
          <p:cNvPr id="10" name="Image 0" descr="preencoded.png">    </p:cNvPr>
          <p:cNvPicPr>
            <a:picLocks noChangeAspect="1"/>
          </p:cNvPicPr>
          <p:nvPr/>
        </p:nvPicPr>
        <p:blipFill>
          <a:blip r:embed="rId1"/>
          <a:stretch>
            <a:fillRect/>
          </a:stretch>
        </p:blipFill>
        <p:spPr>
          <a:xfrm>
            <a:off x="6338621" y="1583741"/>
            <a:ext cx="261518" cy="261518"/>
          </a:xfrm>
          <a:prstGeom prst="rect">
            <a:avLst/>
          </a:prstGeom>
        </p:spPr>
      </p:pic>
      <p:sp>
        <p:nvSpPr>
          <p:cNvPr id="11" name="Text 8"/>
          <p:cNvSpPr txBox="1"/>
          <p:nvPr/>
        </p:nvSpPr>
        <p:spPr>
          <a:xfrm>
            <a:off x="6858000" y="1499616"/>
            <a:ext cx="1737360" cy="228600"/>
          </a:xfrm>
          <a:prstGeom prst="rect">
            <a:avLst/>
          </a:prstGeom>
          <a:noFill/>
          <a:ln/>
        </p:spPr>
        <p:txBody>
          <a:bodyPr wrap="square" lIns="0" tIns="0" rIns="0" bIns="0" rtlCol="0" anchor="t"/>
          <a:lstStyle/>
          <a:p>
            <a:pPr indent="0" marL="0">
              <a:buNone/>
            </a:pPr>
            <a:r>
              <a:rPr lang="en-US" sz="1300" b="1" dirty="0">
                <a:solidFill>
                  <a:schemeClr val="bg1"/>
                </a:solidFill>
              </a:rPr>
              <a:t>Verified citation</a:t>
            </a:r>
            <a:endParaRPr lang="en-US" sz="1300" dirty="0"/>
          </a:p>
        </p:txBody>
      </p:sp>
      <p:sp>
        <p:nvSpPr>
          <p:cNvPr id="12" name="Text 9"/>
          <p:cNvSpPr txBox="1"/>
          <p:nvPr/>
        </p:nvSpPr>
        <p:spPr>
          <a:xfrm>
            <a:off x="6858000" y="1728216"/>
            <a:ext cx="1737360" cy="365760"/>
          </a:xfrm>
          <a:prstGeom prst="rect">
            <a:avLst/>
          </a:prstGeom>
          <a:noFill/>
          <a:ln/>
        </p:spPr>
        <p:txBody>
          <a:bodyPr wrap="square" lIns="0" tIns="0" rIns="0" bIns="0" rtlCol="0" anchor="t"/>
          <a:lstStyle/>
          <a:p>
            <a:pPr indent="0" marL="0">
              <a:buNone/>
            </a:pPr>
            <a:r>
              <a:rPr lang="en-US" sz="1000" dirty="0">
                <a:solidFill>
                  <a:schemeClr val="bg2"/>
                </a:solidFill>
              </a:rPr>
              <a:t>Claim found on the cited page</a:t>
            </a:r>
            <a:endParaRPr lang="en-US" sz="1000" dirty="0"/>
          </a:p>
        </p:txBody>
      </p:sp>
      <p:sp>
        <p:nvSpPr>
          <p:cNvPr id="13" name="Shape 10"/>
          <p:cNvSpPr/>
          <p:nvPr/>
        </p:nvSpPr>
        <p:spPr>
          <a:xfrm>
            <a:off x="6217920" y="2331720"/>
            <a:ext cx="502920" cy="502920"/>
          </a:xfrm>
          <a:prstGeom prst="ellipse">
            <a:avLst/>
          </a:prstGeom>
          <a:solidFill>
            <a:srgbClr val="4F46E5"/>
          </a:solidFill>
          <a:ln w="12700">
            <a:solidFill>
              <a:srgbClr val="4F46E5"/>
            </a:solidFill>
            <a:prstDash val="solid"/>
          </a:ln>
        </p:spPr>
      </p:sp>
      <p:pic>
        <p:nvPicPr>
          <p:cNvPr id="14" name="Image 1" descr="preencoded.png">    </p:cNvPr>
          <p:cNvPicPr>
            <a:picLocks noChangeAspect="1"/>
          </p:cNvPicPr>
          <p:nvPr/>
        </p:nvPicPr>
        <p:blipFill>
          <a:blip r:embed="rId2"/>
          <a:stretch>
            <a:fillRect/>
          </a:stretch>
        </p:blipFill>
        <p:spPr>
          <a:xfrm>
            <a:off x="6338621" y="2452421"/>
            <a:ext cx="261518" cy="261518"/>
          </a:xfrm>
          <a:prstGeom prst="rect">
            <a:avLst/>
          </a:prstGeom>
        </p:spPr>
      </p:pic>
      <p:sp>
        <p:nvSpPr>
          <p:cNvPr id="15" name="Text 11"/>
          <p:cNvSpPr txBox="1"/>
          <p:nvPr/>
        </p:nvSpPr>
        <p:spPr>
          <a:xfrm>
            <a:off x="6858000" y="2368296"/>
            <a:ext cx="1737360" cy="228600"/>
          </a:xfrm>
          <a:prstGeom prst="rect">
            <a:avLst/>
          </a:prstGeom>
          <a:noFill/>
          <a:ln/>
        </p:spPr>
        <p:txBody>
          <a:bodyPr wrap="square" lIns="0" tIns="0" rIns="0" bIns="0" rtlCol="0" anchor="t"/>
          <a:lstStyle/>
          <a:p>
            <a:pPr indent="0" marL="0">
              <a:buNone/>
            </a:pPr>
            <a:r>
              <a:rPr lang="en-US" sz="1300" b="1" dirty="0">
                <a:solidFill>
                  <a:schemeClr val="bg1"/>
                </a:solidFill>
              </a:rPr>
              <a:t>Auto-cited</a:t>
            </a:r>
            <a:endParaRPr lang="en-US" sz="1300" dirty="0"/>
          </a:p>
        </p:txBody>
      </p:sp>
      <p:sp>
        <p:nvSpPr>
          <p:cNvPr id="16" name="Text 12"/>
          <p:cNvSpPr txBox="1"/>
          <p:nvPr/>
        </p:nvSpPr>
        <p:spPr>
          <a:xfrm>
            <a:off x="6858000" y="2596896"/>
            <a:ext cx="1737360" cy="365760"/>
          </a:xfrm>
          <a:prstGeom prst="rect">
            <a:avLst/>
          </a:prstGeom>
          <a:noFill/>
          <a:ln/>
        </p:spPr>
        <p:txBody>
          <a:bodyPr wrap="square" lIns="0" tIns="0" rIns="0" bIns="0" rtlCol="0" anchor="t"/>
          <a:lstStyle/>
          <a:p>
            <a:pPr indent="0" marL="0">
              <a:buNone/>
            </a:pPr>
            <a:r>
              <a:rPr lang="en-US" sz="1000" dirty="0">
                <a:solidFill>
                  <a:schemeClr val="bg2"/>
                </a:solidFill>
              </a:rPr>
              <a:t>Supported sentence linked to its page</a:t>
            </a:r>
            <a:endParaRPr lang="en-US" sz="1000" dirty="0"/>
          </a:p>
        </p:txBody>
      </p:sp>
      <p:sp>
        <p:nvSpPr>
          <p:cNvPr id="17" name="Shape 13"/>
          <p:cNvSpPr/>
          <p:nvPr/>
        </p:nvSpPr>
        <p:spPr>
          <a:xfrm>
            <a:off x="6217920" y="3200400"/>
            <a:ext cx="502920" cy="502920"/>
          </a:xfrm>
          <a:prstGeom prst="ellipse">
            <a:avLst/>
          </a:prstGeom>
          <a:solidFill>
            <a:srgbClr val="D97706"/>
          </a:solidFill>
          <a:ln w="12700">
            <a:solidFill>
              <a:srgbClr val="D97706"/>
            </a:solidFill>
            <a:prstDash val="solid"/>
          </a:ln>
        </p:spPr>
      </p:sp>
      <p:pic>
        <p:nvPicPr>
          <p:cNvPr id="18" name="Image 2" descr="preencoded.png">    </p:cNvPr>
          <p:cNvPicPr>
            <a:picLocks noChangeAspect="1"/>
          </p:cNvPicPr>
          <p:nvPr/>
        </p:nvPicPr>
        <p:blipFill>
          <a:blip r:embed="rId3"/>
          <a:stretch>
            <a:fillRect/>
          </a:stretch>
        </p:blipFill>
        <p:spPr>
          <a:xfrm>
            <a:off x="6338621" y="3321101"/>
            <a:ext cx="261518" cy="261518"/>
          </a:xfrm>
          <a:prstGeom prst="rect">
            <a:avLst/>
          </a:prstGeom>
        </p:spPr>
      </p:pic>
      <p:sp>
        <p:nvSpPr>
          <p:cNvPr id="19" name="Text 14"/>
          <p:cNvSpPr txBox="1"/>
          <p:nvPr/>
        </p:nvSpPr>
        <p:spPr>
          <a:xfrm>
            <a:off x="6858000" y="3236976"/>
            <a:ext cx="1737360" cy="228600"/>
          </a:xfrm>
          <a:prstGeom prst="rect">
            <a:avLst/>
          </a:prstGeom>
          <a:noFill/>
          <a:ln/>
        </p:spPr>
        <p:txBody>
          <a:bodyPr wrap="square" lIns="0" tIns="0" rIns="0" bIns="0" rtlCol="0" anchor="t"/>
          <a:lstStyle/>
          <a:p>
            <a:pPr indent="0" marL="0">
              <a:buNone/>
            </a:pPr>
            <a:r>
              <a:rPr lang="en-US" sz="1300" b="1" dirty="0">
                <a:solidFill>
                  <a:schemeClr val="bg1"/>
                </a:solidFill>
              </a:rPr>
              <a:t>Not found</a:t>
            </a:r>
            <a:endParaRPr lang="en-US" sz="1300" dirty="0"/>
          </a:p>
        </p:txBody>
      </p:sp>
      <p:sp>
        <p:nvSpPr>
          <p:cNvPr id="20" name="Text 15"/>
          <p:cNvSpPr txBox="1"/>
          <p:nvPr/>
        </p:nvSpPr>
        <p:spPr>
          <a:xfrm>
            <a:off x="6858000" y="3465576"/>
            <a:ext cx="1737360" cy="365760"/>
          </a:xfrm>
          <a:prstGeom prst="rect">
            <a:avLst/>
          </a:prstGeom>
          <a:noFill/>
          <a:ln/>
        </p:spPr>
        <p:txBody>
          <a:bodyPr wrap="square" lIns="0" tIns="0" rIns="0" bIns="0" rtlCol="0" anchor="t"/>
          <a:lstStyle/>
          <a:p>
            <a:pPr indent="0" marL="0">
              <a:buNone/>
            </a:pPr>
            <a:r>
              <a:rPr lang="en-US" sz="1000" dirty="0">
                <a:solidFill>
                  <a:schemeClr val="bg2"/>
                </a:solidFill>
              </a:rPr>
              <a:t>No evidence above τ = 0.35, so no guess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THE PROBLEM</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Generic chatbots don't know your lecture notes</a:t>
            </a:r>
            <a:endParaRPr lang="en-US" sz="2600" dirty="0"/>
          </a:p>
        </p:txBody>
      </p:sp>
      <p:sp>
        <p:nvSpPr>
          <p:cNvPr id="4" name="Shape 2"/>
          <p:cNvSpPr/>
          <p:nvPr/>
        </p:nvSpPr>
        <p:spPr>
          <a:xfrm>
            <a:off x="457200" y="1325880"/>
            <a:ext cx="502920" cy="50292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577901" y="1446581"/>
            <a:ext cx="261518" cy="261518"/>
          </a:xfrm>
          <a:prstGeom prst="rect">
            <a:avLst/>
          </a:prstGeom>
        </p:spPr>
      </p:pic>
      <p:sp>
        <p:nvSpPr>
          <p:cNvPr id="6" name="Text 3"/>
          <p:cNvSpPr txBox="1"/>
          <p:nvPr/>
        </p:nvSpPr>
        <p:spPr>
          <a:xfrm>
            <a:off x="1143000" y="1325880"/>
            <a:ext cx="4206240" cy="274320"/>
          </a:xfrm>
          <a:prstGeom prst="rect">
            <a:avLst/>
          </a:prstGeom>
          <a:noFill/>
          <a:ln/>
        </p:spPr>
        <p:txBody>
          <a:bodyPr wrap="square" lIns="0" tIns="0" rIns="0" bIns="0" rtlCol="0" anchor="t"/>
          <a:lstStyle/>
          <a:p>
            <a:pPr indent="0" marL="0">
              <a:buNone/>
            </a:pPr>
            <a:r>
              <a:rPr lang="en-US" sz="1600" b="1" dirty="0">
                <a:solidFill>
                  <a:schemeClr val="tx1"/>
                </a:solidFill>
              </a:rPr>
              <a:t>Answers you can't check</a:t>
            </a:r>
            <a:endParaRPr lang="en-US" sz="1600" dirty="0"/>
          </a:p>
        </p:txBody>
      </p:sp>
      <p:sp>
        <p:nvSpPr>
          <p:cNvPr id="7" name="Text 4"/>
          <p:cNvSpPr txBox="1"/>
          <p:nvPr/>
        </p:nvSpPr>
        <p:spPr>
          <a:xfrm>
            <a:off x="1143000" y="1627632"/>
            <a:ext cx="4206240" cy="640080"/>
          </a:xfrm>
          <a:prstGeom prst="rect">
            <a:avLst/>
          </a:prstGeom>
          <a:noFill/>
          <a:ln/>
        </p:spPr>
        <p:txBody>
          <a:bodyPr wrap="square" lIns="0" tIns="0" rIns="0" bIns="0" rtlCol="0" anchor="t"/>
          <a:lstStyle/>
          <a:p>
            <a:pPr indent="0" marL="0">
              <a:buNone/>
            </a:pPr>
            <a:r>
              <a:rPr lang="en-US" sz="1300" dirty="0">
                <a:solidFill>
                  <a:schemeClr val="tx2"/>
                </a:solidFill>
              </a:rPr>
              <a:t>A general chatbot answers from its training data, not the course's notes, and gives no page to verify against.</a:t>
            </a:r>
            <a:endParaRPr lang="en-US" sz="1300" dirty="0"/>
          </a:p>
        </p:txBody>
      </p:sp>
      <p:sp>
        <p:nvSpPr>
          <p:cNvPr id="8" name="Shape 5"/>
          <p:cNvSpPr/>
          <p:nvPr/>
        </p:nvSpPr>
        <p:spPr>
          <a:xfrm>
            <a:off x="457200" y="2404872"/>
            <a:ext cx="502920" cy="502920"/>
          </a:xfrm>
          <a:prstGeom prst="ellipse">
            <a:avLst/>
          </a:prstGeom>
          <a:solidFill>
            <a:srgbClr val="4F46E5"/>
          </a:solidFill>
          <a:ln w="12700">
            <a:solidFill>
              <a:srgbClr val="4F46E5"/>
            </a:solidFill>
            <a:prstDash val="solid"/>
          </a:ln>
        </p:spPr>
      </p:sp>
      <p:pic>
        <p:nvPicPr>
          <p:cNvPr id="9" name="Image 1" descr="preencoded.png">    </p:cNvPr>
          <p:cNvPicPr>
            <a:picLocks noChangeAspect="1"/>
          </p:cNvPicPr>
          <p:nvPr/>
        </p:nvPicPr>
        <p:blipFill>
          <a:blip r:embed="rId2"/>
          <a:stretch>
            <a:fillRect/>
          </a:stretch>
        </p:blipFill>
        <p:spPr>
          <a:xfrm>
            <a:off x="577901" y="2525573"/>
            <a:ext cx="261518" cy="261518"/>
          </a:xfrm>
          <a:prstGeom prst="rect">
            <a:avLst/>
          </a:prstGeom>
        </p:spPr>
      </p:pic>
      <p:sp>
        <p:nvSpPr>
          <p:cNvPr id="10" name="Text 6"/>
          <p:cNvSpPr txBox="1"/>
          <p:nvPr/>
        </p:nvSpPr>
        <p:spPr>
          <a:xfrm>
            <a:off x="1143000" y="2404872"/>
            <a:ext cx="4206240" cy="274320"/>
          </a:xfrm>
          <a:prstGeom prst="rect">
            <a:avLst/>
          </a:prstGeom>
          <a:noFill/>
          <a:ln/>
        </p:spPr>
        <p:txBody>
          <a:bodyPr wrap="square" lIns="0" tIns="0" rIns="0" bIns="0" rtlCol="0" anchor="t"/>
          <a:lstStyle/>
          <a:p>
            <a:pPr indent="0" marL="0">
              <a:buNone/>
            </a:pPr>
            <a:r>
              <a:rPr lang="en-US" sz="1600" b="1" dirty="0">
                <a:solidFill>
                  <a:schemeClr val="tx1"/>
                </a:solidFill>
              </a:rPr>
              <a:t>Lecture PDFs break naive RAG</a:t>
            </a:r>
            <a:endParaRPr lang="en-US" sz="1600" dirty="0"/>
          </a:p>
        </p:txBody>
      </p:sp>
      <p:sp>
        <p:nvSpPr>
          <p:cNvPr id="11" name="Text 7"/>
          <p:cNvSpPr txBox="1"/>
          <p:nvPr/>
        </p:nvSpPr>
        <p:spPr>
          <a:xfrm>
            <a:off x="1143000" y="2706624"/>
            <a:ext cx="4206240" cy="640080"/>
          </a:xfrm>
          <a:prstGeom prst="rect">
            <a:avLst/>
          </a:prstGeom>
          <a:noFill/>
          <a:ln/>
        </p:spPr>
        <p:txBody>
          <a:bodyPr wrap="square" lIns="0" tIns="0" rIns="0" bIns="0" rtlCol="0" anchor="t"/>
          <a:lstStyle/>
          <a:p>
            <a:pPr indent="0" marL="0">
              <a:buNone/>
            </a:pPr>
            <a:r>
              <a:rPr lang="en-US" sz="1300" dirty="0">
                <a:solidFill>
                  <a:schemeClr val="tx2"/>
                </a:solidFill>
              </a:rPr>
              <a:t>Character splitters cut equations in half, scramble table columns, and lose image-only formulas and handwritten scans.</a:t>
            </a:r>
            <a:endParaRPr lang="en-US" sz="1300" dirty="0"/>
          </a:p>
        </p:txBody>
      </p:sp>
      <p:sp>
        <p:nvSpPr>
          <p:cNvPr id="12" name="Shape 8"/>
          <p:cNvSpPr/>
          <p:nvPr/>
        </p:nvSpPr>
        <p:spPr>
          <a:xfrm>
            <a:off x="457200" y="3483864"/>
            <a:ext cx="502920" cy="50292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3"/>
          <a:stretch>
            <a:fillRect/>
          </a:stretch>
        </p:blipFill>
        <p:spPr>
          <a:xfrm>
            <a:off x="577901" y="3604565"/>
            <a:ext cx="261518" cy="261518"/>
          </a:xfrm>
          <a:prstGeom prst="rect">
            <a:avLst/>
          </a:prstGeom>
        </p:spPr>
      </p:pic>
      <p:sp>
        <p:nvSpPr>
          <p:cNvPr id="14" name="Text 9"/>
          <p:cNvSpPr txBox="1"/>
          <p:nvPr/>
        </p:nvSpPr>
        <p:spPr>
          <a:xfrm>
            <a:off x="1143000" y="3483864"/>
            <a:ext cx="4206240" cy="274320"/>
          </a:xfrm>
          <a:prstGeom prst="rect">
            <a:avLst/>
          </a:prstGeom>
          <a:noFill/>
          <a:ln/>
        </p:spPr>
        <p:txBody>
          <a:bodyPr wrap="square" lIns="0" tIns="0" rIns="0" bIns="0" rtlCol="0" anchor="t"/>
          <a:lstStyle/>
          <a:p>
            <a:pPr indent="0" marL="0">
              <a:buNone/>
            </a:pPr>
            <a:r>
              <a:rPr lang="en-US" sz="1600" b="1" dirty="0">
                <a:solidFill>
                  <a:schemeClr val="tx1"/>
                </a:solidFill>
              </a:rPr>
              <a:t>Revision is passive</a:t>
            </a:r>
            <a:endParaRPr lang="en-US" sz="1600" dirty="0"/>
          </a:p>
        </p:txBody>
      </p:sp>
      <p:sp>
        <p:nvSpPr>
          <p:cNvPr id="15" name="Text 10"/>
          <p:cNvSpPr txBox="1"/>
          <p:nvPr/>
        </p:nvSpPr>
        <p:spPr>
          <a:xfrm>
            <a:off x="1143000" y="3785616"/>
            <a:ext cx="4206240" cy="640080"/>
          </a:xfrm>
          <a:prstGeom prst="rect">
            <a:avLst/>
          </a:prstGeom>
          <a:noFill/>
          <a:ln/>
        </p:spPr>
        <p:txBody>
          <a:bodyPr wrap="square" lIns="0" tIns="0" rIns="0" bIns="0" rtlCol="0" anchor="t"/>
          <a:lstStyle/>
          <a:p>
            <a:pPr indent="0" marL="0">
              <a:buNone/>
            </a:pPr>
            <a:r>
              <a:rPr lang="en-US" sz="1300" dirty="0">
                <a:solidFill>
                  <a:schemeClr val="tx2"/>
                </a:solidFill>
              </a:rPr>
              <a:t>Re-reading feels productive but gives no feedback on which sections a student actually knows.</a:t>
            </a:r>
            <a:endParaRPr lang="en-US" sz="1300" dirty="0"/>
          </a:p>
        </p:txBody>
      </p:sp>
      <p:sp>
        <p:nvSpPr>
          <p:cNvPr id="16" name="Shape 11"/>
          <p:cNvSpPr/>
          <p:nvPr/>
        </p:nvSpPr>
        <p:spPr>
          <a:xfrm>
            <a:off x="5669280" y="1325880"/>
            <a:ext cx="3017520" cy="2971800"/>
          </a:xfrm>
          <a:prstGeom prst="roundRect">
            <a:avLst>
              <a:gd name="adj" fmla="val 2462"/>
            </a:avLst>
          </a:prstGeom>
          <a:solidFill>
            <a:schemeClr val="tx1"/>
          </a:solidFill>
          <a:ln w="9525">
            <a:solidFill>
              <a:schemeClr val="tx1"/>
            </a:solidFill>
            <a:prstDash val="solid"/>
          </a:ln>
        </p:spPr>
      </p:sp>
      <p:pic>
        <p:nvPicPr>
          <p:cNvPr id="17" name="Image 3" descr="preencoded.png">    </p:cNvPr>
          <p:cNvPicPr>
            <a:picLocks noChangeAspect="1"/>
          </p:cNvPicPr>
          <p:nvPr/>
        </p:nvPicPr>
        <p:blipFill>
          <a:blip r:embed="rId4"/>
          <a:stretch>
            <a:fillRect/>
          </a:stretch>
        </p:blipFill>
        <p:spPr>
          <a:xfrm>
            <a:off x="5897880" y="1554480"/>
            <a:ext cx="411480" cy="411480"/>
          </a:xfrm>
          <a:prstGeom prst="rect">
            <a:avLst/>
          </a:prstGeom>
        </p:spPr>
      </p:pic>
      <p:sp>
        <p:nvSpPr>
          <p:cNvPr id="18" name="Text 12"/>
          <p:cNvSpPr txBox="1"/>
          <p:nvPr/>
        </p:nvSpPr>
        <p:spPr>
          <a:xfrm>
            <a:off x="5897880" y="2103120"/>
            <a:ext cx="2606040" cy="1280160"/>
          </a:xfrm>
          <a:prstGeom prst="rect">
            <a:avLst/>
          </a:prstGeom>
          <a:noFill/>
          <a:ln/>
        </p:spPr>
        <p:txBody>
          <a:bodyPr wrap="square" lIns="0" tIns="0" rIns="0" bIns="0" rtlCol="0" anchor="t"/>
          <a:lstStyle/>
          <a:p>
            <a:pPr indent="0" marL="0">
              <a:buNone/>
            </a:pPr>
            <a:r>
              <a:rPr lang="en-US" sz="1500" i="1" dirty="0">
                <a:solidFill>
                  <a:schemeClr val="bg1"/>
                </a:solidFill>
                <a:latin typeface="Cambria" pitchFamily="34" charset="0"/>
                <a:ea typeface="Cambria" pitchFamily="34" charset="-122"/>
                <a:cs typeface="Cambria" pitchFamily="34" charset="-120"/>
              </a:rPr>
              <a:t>Practice testing is one of only two learning techniques rated high utility across ages, materials and tasks.</a:t>
            </a:r>
            <a:endParaRPr lang="en-US" sz="1500" dirty="0"/>
          </a:p>
        </p:txBody>
      </p:sp>
      <p:sp>
        <p:nvSpPr>
          <p:cNvPr id="19" name="Text 13"/>
          <p:cNvSpPr txBox="1"/>
          <p:nvPr/>
        </p:nvSpPr>
        <p:spPr>
          <a:xfrm>
            <a:off x="5897880" y="3611880"/>
            <a:ext cx="2606040" cy="457200"/>
          </a:xfrm>
          <a:prstGeom prst="rect">
            <a:avLst/>
          </a:prstGeom>
          <a:noFill/>
          <a:ln/>
        </p:spPr>
        <p:txBody>
          <a:bodyPr wrap="square" lIns="0" tIns="0" rIns="0" bIns="0" rtlCol="0" anchor="t"/>
          <a:lstStyle/>
          <a:p>
            <a:pPr indent="0" marL="0">
              <a:buNone/>
            </a:pPr>
            <a:r>
              <a:rPr lang="en-US" sz="1000" dirty="0">
                <a:solidFill>
                  <a:schemeClr val="bg2"/>
                </a:solidFill>
              </a:rPr>
              <a:t>Dunlosky et al., Psychological Science in the Public Interest, 2013</a:t>
            </a:r>
            <a:endParaRPr lang="en-US" sz="10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WHAT WE BUILT</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One workspace: library, chat and adaptive quiz</a:t>
            </a:r>
            <a:endParaRPr lang="en-US" sz="2600" dirty="0"/>
          </a:p>
        </p:txBody>
      </p:sp>
      <p:sp>
        <p:nvSpPr>
          <p:cNvPr id="4" name="Shape 2"/>
          <p:cNvSpPr/>
          <p:nvPr/>
        </p:nvSpPr>
        <p:spPr>
          <a:xfrm>
            <a:off x="457200" y="1280160"/>
            <a:ext cx="457200" cy="45720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566928" y="1389888"/>
            <a:ext cx="237744" cy="237744"/>
          </a:xfrm>
          <a:prstGeom prst="rect">
            <a:avLst/>
          </a:prstGeom>
        </p:spPr>
      </p:pic>
      <p:sp>
        <p:nvSpPr>
          <p:cNvPr id="6" name="Text 3"/>
          <p:cNvSpPr txBox="1"/>
          <p:nvPr/>
        </p:nvSpPr>
        <p:spPr>
          <a:xfrm>
            <a:off x="1051560" y="1261872"/>
            <a:ext cx="2743200" cy="274320"/>
          </a:xfrm>
          <a:prstGeom prst="rect">
            <a:avLst/>
          </a:prstGeom>
          <a:noFill/>
          <a:ln/>
        </p:spPr>
        <p:txBody>
          <a:bodyPr wrap="square" lIns="0" tIns="0" rIns="0" bIns="0" rtlCol="0" anchor="t"/>
          <a:lstStyle/>
          <a:p>
            <a:pPr indent="0" marL="0">
              <a:buNone/>
            </a:pPr>
            <a:r>
              <a:rPr lang="en-US" sz="1600" b="1" dirty="0">
                <a:solidFill>
                  <a:schemeClr val="tx1"/>
                </a:solidFill>
              </a:rPr>
              <a:t>Library</a:t>
            </a:r>
            <a:endParaRPr lang="en-US" sz="1600" dirty="0"/>
          </a:p>
        </p:txBody>
      </p:sp>
      <p:sp>
        <p:nvSpPr>
          <p:cNvPr id="7" name="Text 4"/>
          <p:cNvSpPr txBox="1"/>
          <p:nvPr/>
        </p:nvSpPr>
        <p:spPr>
          <a:xfrm>
            <a:off x="1051560" y="1554480"/>
            <a:ext cx="2743200" cy="777240"/>
          </a:xfrm>
          <a:prstGeom prst="rect">
            <a:avLst/>
          </a:prstGeom>
          <a:noFill/>
          <a:ln/>
        </p:spPr>
        <p:txBody>
          <a:bodyPr wrap="square" lIns="0" tIns="0" rIns="0" bIns="0" rtlCol="0" anchor="t"/>
          <a:lstStyle/>
          <a:p>
            <a:pPr indent="0" marL="0">
              <a:buNone/>
            </a:pPr>
            <a:r>
              <a:rPr lang="en-US" sz="1200" dirty="0">
                <a:solidFill>
                  <a:schemeClr val="tx2"/>
                </a:solidFill>
              </a:rPr>
              <a:t>Upload lecture PDFs, Beamer slides or scans. Watch them parse, then preview the extracted Markdown with rendered math.</a:t>
            </a:r>
            <a:endParaRPr lang="en-US" sz="1200" dirty="0"/>
          </a:p>
        </p:txBody>
      </p:sp>
      <p:sp>
        <p:nvSpPr>
          <p:cNvPr id="8" name="Shape 5"/>
          <p:cNvSpPr/>
          <p:nvPr/>
        </p:nvSpPr>
        <p:spPr>
          <a:xfrm>
            <a:off x="457200" y="2395728"/>
            <a:ext cx="457200" cy="457200"/>
          </a:xfrm>
          <a:prstGeom prst="ellipse">
            <a:avLst/>
          </a:prstGeom>
          <a:solidFill>
            <a:srgbClr val="0D9488"/>
          </a:solidFill>
          <a:ln w="12700">
            <a:solidFill>
              <a:srgbClr val="0D9488"/>
            </a:solidFill>
            <a:prstDash val="solid"/>
          </a:ln>
        </p:spPr>
      </p:sp>
      <p:pic>
        <p:nvPicPr>
          <p:cNvPr id="9" name="Image 1" descr="preencoded.png">    </p:cNvPr>
          <p:cNvPicPr>
            <a:picLocks noChangeAspect="1"/>
          </p:cNvPicPr>
          <p:nvPr/>
        </p:nvPicPr>
        <p:blipFill>
          <a:blip r:embed="rId2"/>
          <a:stretch>
            <a:fillRect/>
          </a:stretch>
        </p:blipFill>
        <p:spPr>
          <a:xfrm>
            <a:off x="566928" y="2505456"/>
            <a:ext cx="237744" cy="237744"/>
          </a:xfrm>
          <a:prstGeom prst="rect">
            <a:avLst/>
          </a:prstGeom>
        </p:spPr>
      </p:pic>
      <p:sp>
        <p:nvSpPr>
          <p:cNvPr id="10" name="Text 6"/>
          <p:cNvSpPr txBox="1"/>
          <p:nvPr/>
        </p:nvSpPr>
        <p:spPr>
          <a:xfrm>
            <a:off x="1051560" y="2377440"/>
            <a:ext cx="2743200" cy="274320"/>
          </a:xfrm>
          <a:prstGeom prst="rect">
            <a:avLst/>
          </a:prstGeom>
          <a:noFill/>
          <a:ln/>
        </p:spPr>
        <p:txBody>
          <a:bodyPr wrap="square" lIns="0" tIns="0" rIns="0" bIns="0" rtlCol="0" anchor="t"/>
          <a:lstStyle/>
          <a:p>
            <a:pPr indent="0" marL="0">
              <a:buNone/>
            </a:pPr>
            <a:r>
              <a:rPr lang="en-US" sz="1600" b="1" dirty="0">
                <a:solidFill>
                  <a:schemeClr val="tx1"/>
                </a:solidFill>
              </a:rPr>
              <a:t>Grounded chat</a:t>
            </a:r>
            <a:endParaRPr lang="en-US" sz="1600" dirty="0"/>
          </a:p>
        </p:txBody>
      </p:sp>
      <p:sp>
        <p:nvSpPr>
          <p:cNvPr id="11" name="Text 7"/>
          <p:cNvSpPr txBox="1"/>
          <p:nvPr/>
        </p:nvSpPr>
        <p:spPr>
          <a:xfrm>
            <a:off x="1051560" y="2670048"/>
            <a:ext cx="2743200" cy="777240"/>
          </a:xfrm>
          <a:prstGeom prst="rect">
            <a:avLst/>
          </a:prstGeom>
          <a:noFill/>
          <a:ln/>
        </p:spPr>
        <p:txBody>
          <a:bodyPr wrap="square" lIns="0" tIns="0" rIns="0" bIns="0" rtlCol="0" anchor="t"/>
          <a:lstStyle/>
          <a:p>
            <a:pPr indent="0" marL="0">
              <a:buNone/>
            </a:pPr>
            <a:r>
              <a:rPr lang="en-US" sz="1200" dirty="0">
                <a:solidFill>
                  <a:schemeClr val="tx2"/>
                </a:solidFill>
              </a:rPr>
              <a:t>Answers stream in with clickable page citations. A click opens the PDF with the supporting paragraph highlighted.</a:t>
            </a:r>
            <a:endParaRPr lang="en-US" sz="1200" dirty="0"/>
          </a:p>
        </p:txBody>
      </p:sp>
      <p:sp>
        <p:nvSpPr>
          <p:cNvPr id="12" name="Shape 8"/>
          <p:cNvSpPr/>
          <p:nvPr/>
        </p:nvSpPr>
        <p:spPr>
          <a:xfrm>
            <a:off x="457200" y="3511296"/>
            <a:ext cx="457200" cy="457200"/>
          </a:xfrm>
          <a:prstGeom prst="ellipse">
            <a:avLst/>
          </a:prstGeom>
          <a:solidFill>
            <a:srgbClr val="7C3AED"/>
          </a:solidFill>
          <a:ln w="12700">
            <a:solidFill>
              <a:srgbClr val="7C3AED"/>
            </a:solidFill>
            <a:prstDash val="solid"/>
          </a:ln>
        </p:spPr>
      </p:sp>
      <p:pic>
        <p:nvPicPr>
          <p:cNvPr id="13" name="Image 2" descr="preencoded.png">    </p:cNvPr>
          <p:cNvPicPr>
            <a:picLocks noChangeAspect="1"/>
          </p:cNvPicPr>
          <p:nvPr/>
        </p:nvPicPr>
        <p:blipFill>
          <a:blip r:embed="rId3"/>
          <a:stretch>
            <a:fillRect/>
          </a:stretch>
        </p:blipFill>
        <p:spPr>
          <a:xfrm>
            <a:off x="566928" y="3621024"/>
            <a:ext cx="237744" cy="237744"/>
          </a:xfrm>
          <a:prstGeom prst="rect">
            <a:avLst/>
          </a:prstGeom>
        </p:spPr>
      </p:pic>
      <p:sp>
        <p:nvSpPr>
          <p:cNvPr id="14" name="Text 9"/>
          <p:cNvSpPr txBox="1"/>
          <p:nvPr/>
        </p:nvSpPr>
        <p:spPr>
          <a:xfrm>
            <a:off x="1051560" y="3493008"/>
            <a:ext cx="2743200" cy="274320"/>
          </a:xfrm>
          <a:prstGeom prst="rect">
            <a:avLst/>
          </a:prstGeom>
          <a:noFill/>
          <a:ln/>
        </p:spPr>
        <p:txBody>
          <a:bodyPr wrap="square" lIns="0" tIns="0" rIns="0" bIns="0" rtlCol="0" anchor="t"/>
          <a:lstStyle/>
          <a:p>
            <a:pPr indent="0" marL="0">
              <a:buNone/>
            </a:pPr>
            <a:r>
              <a:rPr lang="en-US" sz="1600" b="1" dirty="0">
                <a:solidFill>
                  <a:schemeClr val="tx1"/>
                </a:solidFill>
              </a:rPr>
              <a:t>Adaptive quiz</a:t>
            </a:r>
            <a:endParaRPr lang="en-US" sz="1600" dirty="0"/>
          </a:p>
        </p:txBody>
      </p:sp>
      <p:sp>
        <p:nvSpPr>
          <p:cNvPr id="15" name="Text 10"/>
          <p:cNvSpPr txBox="1"/>
          <p:nvPr/>
        </p:nvSpPr>
        <p:spPr>
          <a:xfrm>
            <a:off x="1051560" y="3785616"/>
            <a:ext cx="2743200" cy="777240"/>
          </a:xfrm>
          <a:prstGeom prst="rect">
            <a:avLst/>
          </a:prstGeom>
          <a:noFill/>
          <a:ln/>
        </p:spPr>
        <p:txBody>
          <a:bodyPr wrap="square" lIns="0" tIns="0" rIns="0" bIns="0" rtlCol="0" anchor="t"/>
          <a:lstStyle/>
          <a:p>
            <a:pPr indent="0" marL="0">
              <a:buNone/>
            </a:pPr>
            <a:r>
              <a:rPr lang="en-US" sz="1200" dirty="0">
                <a:solidFill>
                  <a:schemeClr val="tx2"/>
                </a:solidFill>
              </a:rPr>
              <a:t>Bloom-calibrated multiple-choice questions with a rationale for every option and a mastery score per section.</a:t>
            </a:r>
            <a:endParaRPr lang="en-US" sz="1200" dirty="0"/>
          </a:p>
        </p:txBody>
      </p:sp>
      <p:pic>
        <p:nvPicPr>
          <p:cNvPr id="16" name="Image 3" descr="ui_chat_viewer.png">    </p:cNvPr>
          <p:cNvPicPr>
            <a:picLocks noChangeAspect="1"/>
          </p:cNvPicPr>
          <p:nvPr/>
        </p:nvPicPr>
        <p:blipFill>
          <a:blip r:embed="rId4"/>
          <a:stretch>
            <a:fillRect/>
          </a:stretch>
        </p:blipFill>
        <p:spPr>
          <a:xfrm>
            <a:off x="4023360" y="1280160"/>
            <a:ext cx="4663440" cy="2914650"/>
          </a:xfrm>
          <a:prstGeom prst="rect">
            <a:avLst/>
          </a:prstGeom>
        </p:spPr>
      </p:pic>
      <p:sp>
        <p:nvSpPr>
          <p:cNvPr id="17" name="Shape 11"/>
          <p:cNvSpPr/>
          <p:nvPr/>
        </p:nvSpPr>
        <p:spPr>
          <a:xfrm>
            <a:off x="4023360" y="1280160"/>
            <a:ext cx="4663440" cy="2914650"/>
          </a:xfrm>
          <a:prstGeom prst="rect">
            <a:avLst/>
          </a:prstGeom>
          <a:ln w="9525">
            <a:solidFill>
              <a:srgbClr val="CBD5E1"/>
            </a:solidFill>
            <a:prstDash val="solid"/>
          </a:ln>
        </p:spPr>
      </p:sp>
      <p:sp>
        <p:nvSpPr>
          <p:cNvPr id="18" name="Text 12"/>
          <p:cNvSpPr txBox="1"/>
          <p:nvPr/>
        </p:nvSpPr>
        <p:spPr>
          <a:xfrm>
            <a:off x="4023360" y="4270248"/>
            <a:ext cx="4663440" cy="274320"/>
          </a:xfrm>
          <a:prstGeom prst="rect">
            <a:avLst/>
          </a:prstGeom>
          <a:noFill/>
          <a:ln/>
        </p:spPr>
        <p:txBody>
          <a:bodyPr wrap="square" lIns="0" tIns="0" rIns="0" bIns="0" rtlCol="0" anchor="t"/>
          <a:lstStyle/>
          <a:p>
            <a:pPr indent="0" marL="0">
              <a:buNone/>
            </a:pPr>
            <a:r>
              <a:rPr lang="en-US" sz="1100" i="1" dirty="0">
                <a:solidFill>
                  <a:schemeClr val="tx2"/>
                </a:solidFill>
              </a:rPr>
              <a:t>Runs fully offline on one laptop: RTX 4070 (8 GB), Qwen 2.5 7B through Ollama.</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HOW IT WORKS</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Five stages from a lecture PDF to a checked answer</a:t>
            </a:r>
            <a:endParaRPr lang="en-US" sz="2600" dirty="0"/>
          </a:p>
        </p:txBody>
      </p:sp>
      <p:sp>
        <p:nvSpPr>
          <p:cNvPr id="4" name="Shape 2"/>
          <p:cNvSpPr/>
          <p:nvPr/>
        </p:nvSpPr>
        <p:spPr>
          <a:xfrm>
            <a:off x="457200" y="1325880"/>
            <a:ext cx="1517904" cy="2514600"/>
          </a:xfrm>
          <a:prstGeom prst="roundRect">
            <a:avLst>
              <a:gd name="adj" fmla="val 4819"/>
            </a:avLst>
          </a:prstGeom>
          <a:solidFill>
            <a:schemeClr val="bg2"/>
          </a:solidFill>
          <a:ln w="9525">
            <a:solidFill>
              <a:schemeClr val="bg2"/>
            </a:solidFill>
            <a:prstDash val="solid"/>
          </a:ln>
        </p:spPr>
      </p:sp>
      <p:sp>
        <p:nvSpPr>
          <p:cNvPr id="5" name="Shape 3"/>
          <p:cNvSpPr/>
          <p:nvPr/>
        </p:nvSpPr>
        <p:spPr>
          <a:xfrm>
            <a:off x="594360" y="1481328"/>
            <a:ext cx="384048" cy="384048"/>
          </a:xfrm>
          <a:prstGeom prst="ellipse">
            <a:avLst/>
          </a:prstGeom>
          <a:solidFill>
            <a:schemeClr val="accent2"/>
          </a:solidFill>
          <a:ln w="12700">
            <a:solidFill>
              <a:schemeClr val="accent2"/>
            </a:solidFill>
            <a:prstDash val="solid"/>
          </a:ln>
        </p:spPr>
      </p:sp>
      <p:sp>
        <p:nvSpPr>
          <p:cNvPr id="6" name="Text 4"/>
          <p:cNvSpPr txBox="1"/>
          <p:nvPr/>
        </p:nvSpPr>
        <p:spPr>
          <a:xfrm>
            <a:off x="594360"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594360" y="1993392"/>
            <a:ext cx="1243584"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Parse</a:t>
            </a:r>
            <a:endParaRPr lang="en-US" sz="1500" dirty="0"/>
          </a:p>
        </p:txBody>
      </p:sp>
      <p:sp>
        <p:nvSpPr>
          <p:cNvPr id="8" name="Text 6"/>
          <p:cNvSpPr txBox="1"/>
          <p:nvPr/>
        </p:nvSpPr>
        <p:spPr>
          <a:xfrm>
            <a:off x="594360" y="2304288"/>
            <a:ext cx="1243584" cy="1463040"/>
          </a:xfrm>
          <a:prstGeom prst="rect">
            <a:avLst/>
          </a:prstGeom>
          <a:noFill/>
          <a:ln/>
        </p:spPr>
        <p:txBody>
          <a:bodyPr wrap="square" lIns="0" tIns="0" rIns="0" bIns="0" rtlCol="0" anchor="t"/>
          <a:lstStyle/>
          <a:p>
            <a:pPr indent="0" marL="0">
              <a:buNone/>
            </a:pPr>
            <a:r>
              <a:rPr lang="en-US" sz="1100" dirty="0">
                <a:solidFill>
                  <a:schemeClr val="tx2"/>
                </a:solidFill>
              </a:rPr>
              <a:t>Layout model finds headings, tables and formulas; OCR reads scans; formulas become LaTeX.</a:t>
            </a:r>
            <a:endParaRPr lang="en-US" sz="1100" dirty="0"/>
          </a:p>
        </p:txBody>
      </p:sp>
      <p:sp>
        <p:nvSpPr>
          <p:cNvPr id="9" name="Text 7"/>
          <p:cNvSpPr txBox="1"/>
          <p:nvPr/>
        </p:nvSpPr>
        <p:spPr>
          <a:xfrm>
            <a:off x="457200" y="3931920"/>
            <a:ext cx="1517904" cy="228600"/>
          </a:xfrm>
          <a:prstGeom prst="rect">
            <a:avLst/>
          </a:prstGeom>
          <a:noFill/>
          <a:ln/>
        </p:spPr>
        <p:txBody>
          <a:bodyPr wrap="square" lIns="0" tIns="0" rIns="0" bIns="0" rtlCol="0" anchor="t"/>
          <a:lstStyle/>
          <a:p>
            <a:pPr indent="0" marL="0">
              <a:buNone/>
            </a:pPr>
            <a:r>
              <a:rPr lang="en-US" sz="1000" i="1" dirty="0">
                <a:solidFill>
                  <a:schemeClr val="tx2"/>
                </a:solidFill>
              </a:rPr>
              <a:t>Docling · RapidOCR</a:t>
            </a:r>
            <a:endParaRPr lang="en-US" sz="1000" dirty="0"/>
          </a:p>
        </p:txBody>
      </p:sp>
      <p:sp>
        <p:nvSpPr>
          <p:cNvPr id="10" name="Shape 8"/>
          <p:cNvSpPr/>
          <p:nvPr/>
        </p:nvSpPr>
        <p:spPr>
          <a:xfrm>
            <a:off x="2130552" y="1325880"/>
            <a:ext cx="1517904" cy="2514600"/>
          </a:xfrm>
          <a:prstGeom prst="roundRect">
            <a:avLst>
              <a:gd name="adj" fmla="val 4819"/>
            </a:avLst>
          </a:prstGeom>
          <a:solidFill>
            <a:schemeClr val="bg2"/>
          </a:solidFill>
          <a:ln w="9525">
            <a:solidFill>
              <a:schemeClr val="bg2"/>
            </a:solidFill>
            <a:prstDash val="solid"/>
          </a:ln>
        </p:spPr>
      </p:sp>
      <p:sp>
        <p:nvSpPr>
          <p:cNvPr id="11" name="Shape 9"/>
          <p:cNvSpPr/>
          <p:nvPr/>
        </p:nvSpPr>
        <p:spPr>
          <a:xfrm>
            <a:off x="2267712" y="1481328"/>
            <a:ext cx="384048" cy="384048"/>
          </a:xfrm>
          <a:prstGeom prst="ellipse">
            <a:avLst/>
          </a:prstGeom>
          <a:solidFill>
            <a:schemeClr val="accent2"/>
          </a:solidFill>
          <a:ln w="12700">
            <a:solidFill>
              <a:schemeClr val="accent2"/>
            </a:solidFill>
            <a:prstDash val="solid"/>
          </a:ln>
        </p:spPr>
      </p:sp>
      <p:sp>
        <p:nvSpPr>
          <p:cNvPr id="12" name="Text 10"/>
          <p:cNvSpPr txBox="1"/>
          <p:nvPr/>
        </p:nvSpPr>
        <p:spPr>
          <a:xfrm>
            <a:off x="2267712"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2267712" y="1993392"/>
            <a:ext cx="1243584"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Chunk</a:t>
            </a:r>
            <a:endParaRPr lang="en-US" sz="1500" dirty="0"/>
          </a:p>
        </p:txBody>
      </p:sp>
      <p:sp>
        <p:nvSpPr>
          <p:cNvPr id="14" name="Text 12"/>
          <p:cNvSpPr txBox="1"/>
          <p:nvPr/>
        </p:nvSpPr>
        <p:spPr>
          <a:xfrm>
            <a:off x="2267712" y="2304288"/>
            <a:ext cx="1243584" cy="1463040"/>
          </a:xfrm>
          <a:prstGeom prst="rect">
            <a:avLst/>
          </a:prstGeom>
          <a:noFill/>
          <a:ln/>
        </p:spPr>
        <p:txBody>
          <a:bodyPr wrap="square" lIns="0" tIns="0" rIns="0" bIns="0" rtlCol="0" anchor="t"/>
          <a:lstStyle/>
          <a:p>
            <a:pPr indent="0" marL="0">
              <a:buNone/>
            </a:pPr>
            <a:r>
              <a:rPr lang="en-US" sz="1100" dirty="0">
                <a:solidFill>
                  <a:schemeClr val="tx2"/>
                </a:solidFill>
              </a:rPr>
              <a:t>Sections become parents (≈800–1200 tokens); 200–300-token children with 50-token overlap are indexed.</a:t>
            </a:r>
            <a:endParaRPr lang="en-US" sz="1100" dirty="0"/>
          </a:p>
        </p:txBody>
      </p:sp>
      <p:sp>
        <p:nvSpPr>
          <p:cNvPr id="15" name="Text 13"/>
          <p:cNvSpPr txBox="1"/>
          <p:nvPr/>
        </p:nvSpPr>
        <p:spPr>
          <a:xfrm>
            <a:off x="2130552" y="3931920"/>
            <a:ext cx="1517904" cy="228600"/>
          </a:xfrm>
          <a:prstGeom prst="rect">
            <a:avLst/>
          </a:prstGeom>
          <a:noFill/>
          <a:ln/>
        </p:spPr>
        <p:txBody>
          <a:bodyPr wrap="square" lIns="0" tIns="0" rIns="0" bIns="0" rtlCol="0" anchor="t"/>
          <a:lstStyle/>
          <a:p>
            <a:pPr indent="0" marL="0">
              <a:buNone/>
            </a:pPr>
            <a:r>
              <a:rPr lang="en-US" sz="1000" i="1" dirty="0">
                <a:solidFill>
                  <a:schemeClr val="tx2"/>
                </a:solidFill>
              </a:rPr>
              <a:t>Hierarchical chunker</a:t>
            </a:r>
            <a:endParaRPr lang="en-US" sz="1000" dirty="0"/>
          </a:p>
        </p:txBody>
      </p:sp>
      <p:sp>
        <p:nvSpPr>
          <p:cNvPr id="16" name="Shape 14"/>
          <p:cNvSpPr/>
          <p:nvPr/>
        </p:nvSpPr>
        <p:spPr>
          <a:xfrm>
            <a:off x="3803904" y="1325880"/>
            <a:ext cx="1517904" cy="2514600"/>
          </a:xfrm>
          <a:prstGeom prst="roundRect">
            <a:avLst>
              <a:gd name="adj" fmla="val 4819"/>
            </a:avLst>
          </a:prstGeom>
          <a:solidFill>
            <a:schemeClr val="bg2"/>
          </a:solidFill>
          <a:ln w="9525">
            <a:solidFill>
              <a:schemeClr val="bg2"/>
            </a:solidFill>
            <a:prstDash val="solid"/>
          </a:ln>
        </p:spPr>
      </p:sp>
      <p:sp>
        <p:nvSpPr>
          <p:cNvPr id="17" name="Shape 15"/>
          <p:cNvSpPr/>
          <p:nvPr/>
        </p:nvSpPr>
        <p:spPr>
          <a:xfrm>
            <a:off x="3941064" y="1481328"/>
            <a:ext cx="384048" cy="384048"/>
          </a:xfrm>
          <a:prstGeom prst="ellipse">
            <a:avLst/>
          </a:prstGeom>
          <a:solidFill>
            <a:schemeClr val="accent2"/>
          </a:solidFill>
          <a:ln w="12700">
            <a:solidFill>
              <a:schemeClr val="accent2"/>
            </a:solidFill>
            <a:prstDash val="solid"/>
          </a:ln>
        </p:spPr>
      </p:sp>
      <p:sp>
        <p:nvSpPr>
          <p:cNvPr id="18" name="Text 16"/>
          <p:cNvSpPr txBox="1"/>
          <p:nvPr/>
        </p:nvSpPr>
        <p:spPr>
          <a:xfrm>
            <a:off x="3941064"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3941064" y="1993392"/>
            <a:ext cx="1243584"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Retrieve</a:t>
            </a:r>
            <a:endParaRPr lang="en-US" sz="1500" dirty="0"/>
          </a:p>
        </p:txBody>
      </p:sp>
      <p:sp>
        <p:nvSpPr>
          <p:cNvPr id="20" name="Text 18"/>
          <p:cNvSpPr txBox="1"/>
          <p:nvPr/>
        </p:nvSpPr>
        <p:spPr>
          <a:xfrm>
            <a:off x="3941064" y="2304288"/>
            <a:ext cx="1243584" cy="1463040"/>
          </a:xfrm>
          <a:prstGeom prst="rect">
            <a:avLst/>
          </a:prstGeom>
          <a:noFill/>
          <a:ln/>
        </p:spPr>
        <p:txBody>
          <a:bodyPr wrap="square" lIns="0" tIns="0" rIns="0" bIns="0" rtlCol="0" anchor="t"/>
          <a:lstStyle/>
          <a:p>
            <a:pPr indent="0" marL="0">
              <a:buNone/>
            </a:pPr>
            <a:r>
              <a:rPr lang="en-US" sz="1100" dirty="0">
                <a:solidFill>
                  <a:schemeClr val="tx2"/>
                </a:solidFill>
              </a:rPr>
              <a:t>Dense and keyword search run in parallel and are fused by rank, then mapped back to parent sections.</a:t>
            </a:r>
            <a:endParaRPr lang="en-US" sz="1100" dirty="0"/>
          </a:p>
        </p:txBody>
      </p:sp>
      <p:sp>
        <p:nvSpPr>
          <p:cNvPr id="21" name="Text 19"/>
          <p:cNvSpPr txBox="1"/>
          <p:nvPr/>
        </p:nvSpPr>
        <p:spPr>
          <a:xfrm>
            <a:off x="3803904" y="3931920"/>
            <a:ext cx="1517904" cy="228600"/>
          </a:xfrm>
          <a:prstGeom prst="rect">
            <a:avLst/>
          </a:prstGeom>
          <a:noFill/>
          <a:ln/>
        </p:spPr>
        <p:txBody>
          <a:bodyPr wrap="square" lIns="0" tIns="0" rIns="0" bIns="0" rtlCol="0" anchor="t"/>
          <a:lstStyle/>
          <a:p>
            <a:pPr indent="0" marL="0">
              <a:buNone/>
            </a:pPr>
            <a:r>
              <a:rPr lang="en-US" sz="1000" i="1" dirty="0">
                <a:solidFill>
                  <a:schemeClr val="tx2"/>
                </a:solidFill>
              </a:rPr>
              <a:t>BGE-M3 · bm25s · RRF</a:t>
            </a:r>
            <a:endParaRPr lang="en-US" sz="1000" dirty="0"/>
          </a:p>
        </p:txBody>
      </p:sp>
      <p:sp>
        <p:nvSpPr>
          <p:cNvPr id="22" name="Shape 20"/>
          <p:cNvSpPr/>
          <p:nvPr/>
        </p:nvSpPr>
        <p:spPr>
          <a:xfrm>
            <a:off x="5477256" y="1325880"/>
            <a:ext cx="1517904" cy="2514600"/>
          </a:xfrm>
          <a:prstGeom prst="roundRect">
            <a:avLst>
              <a:gd name="adj" fmla="val 4819"/>
            </a:avLst>
          </a:prstGeom>
          <a:solidFill>
            <a:schemeClr val="bg2"/>
          </a:solidFill>
          <a:ln w="9525">
            <a:solidFill>
              <a:schemeClr val="bg2"/>
            </a:solidFill>
            <a:prstDash val="solid"/>
          </a:ln>
        </p:spPr>
      </p:sp>
      <p:sp>
        <p:nvSpPr>
          <p:cNvPr id="23" name="Shape 21"/>
          <p:cNvSpPr/>
          <p:nvPr/>
        </p:nvSpPr>
        <p:spPr>
          <a:xfrm>
            <a:off x="5614416" y="1481328"/>
            <a:ext cx="384048" cy="384048"/>
          </a:xfrm>
          <a:prstGeom prst="ellipse">
            <a:avLst/>
          </a:prstGeom>
          <a:solidFill>
            <a:schemeClr val="accent2"/>
          </a:solidFill>
          <a:ln w="12700">
            <a:solidFill>
              <a:schemeClr val="accent2"/>
            </a:solidFill>
            <a:prstDash val="solid"/>
          </a:ln>
        </p:spPr>
      </p:sp>
      <p:sp>
        <p:nvSpPr>
          <p:cNvPr id="24" name="Text 22"/>
          <p:cNvSpPr txBox="1"/>
          <p:nvPr/>
        </p:nvSpPr>
        <p:spPr>
          <a:xfrm>
            <a:off x="5614416" y="14813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3"/>
          <p:cNvSpPr txBox="1"/>
          <p:nvPr/>
        </p:nvSpPr>
        <p:spPr>
          <a:xfrm>
            <a:off x="5614416" y="1993392"/>
            <a:ext cx="1243584"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Rerank</a:t>
            </a:r>
            <a:endParaRPr lang="en-US" sz="1500" dirty="0"/>
          </a:p>
        </p:txBody>
      </p:sp>
      <p:sp>
        <p:nvSpPr>
          <p:cNvPr id="26" name="Text 24"/>
          <p:cNvSpPr txBox="1"/>
          <p:nvPr/>
        </p:nvSpPr>
        <p:spPr>
          <a:xfrm>
            <a:off x="5614416" y="2304288"/>
            <a:ext cx="1243584" cy="1463040"/>
          </a:xfrm>
          <a:prstGeom prst="rect">
            <a:avLst/>
          </a:prstGeom>
          <a:noFill/>
          <a:ln/>
        </p:spPr>
        <p:txBody>
          <a:bodyPr wrap="square" lIns="0" tIns="0" rIns="0" bIns="0" rtlCol="0" anchor="t"/>
          <a:lstStyle/>
          <a:p>
            <a:pPr indent="0" marL="0">
              <a:buNone/>
            </a:pPr>
            <a:r>
              <a:rPr lang="en-US" sz="1100" dirty="0">
                <a:solidFill>
                  <a:schemeClr val="tx2"/>
                </a:solidFill>
              </a:rPr>
              <a:t>A cross-encoder scores each section against the question; nothing above τ = 0.35 means “Not found”.</a:t>
            </a:r>
            <a:endParaRPr lang="en-US" sz="1100" dirty="0"/>
          </a:p>
        </p:txBody>
      </p:sp>
      <p:sp>
        <p:nvSpPr>
          <p:cNvPr id="27" name="Text 25"/>
          <p:cNvSpPr txBox="1"/>
          <p:nvPr/>
        </p:nvSpPr>
        <p:spPr>
          <a:xfrm>
            <a:off x="5477256" y="3931920"/>
            <a:ext cx="1517904" cy="228600"/>
          </a:xfrm>
          <a:prstGeom prst="rect">
            <a:avLst/>
          </a:prstGeom>
          <a:noFill/>
          <a:ln/>
        </p:spPr>
        <p:txBody>
          <a:bodyPr wrap="square" lIns="0" tIns="0" rIns="0" bIns="0" rtlCol="0" anchor="t"/>
          <a:lstStyle/>
          <a:p>
            <a:pPr indent="0" marL="0">
              <a:buNone/>
            </a:pPr>
            <a:r>
              <a:rPr lang="en-US" sz="1000" i="1" dirty="0">
                <a:solidFill>
                  <a:schemeClr val="tx2"/>
                </a:solidFill>
              </a:rPr>
              <a:t>bge-reranker-v2-m3</a:t>
            </a:r>
            <a:endParaRPr lang="en-US" sz="1000" dirty="0"/>
          </a:p>
        </p:txBody>
      </p:sp>
      <p:sp>
        <p:nvSpPr>
          <p:cNvPr id="28" name="Shape 26"/>
          <p:cNvSpPr/>
          <p:nvPr/>
        </p:nvSpPr>
        <p:spPr>
          <a:xfrm>
            <a:off x="7150608" y="1325880"/>
            <a:ext cx="1517904" cy="2514600"/>
          </a:xfrm>
          <a:prstGeom prst="roundRect">
            <a:avLst>
              <a:gd name="adj" fmla="val 4819"/>
            </a:avLst>
          </a:prstGeom>
          <a:solidFill>
            <a:schemeClr val="accent2"/>
          </a:solidFill>
          <a:ln w="9525">
            <a:solidFill>
              <a:schemeClr val="accent2"/>
            </a:solidFill>
            <a:prstDash val="solid"/>
          </a:ln>
        </p:spPr>
      </p:sp>
      <p:sp>
        <p:nvSpPr>
          <p:cNvPr id="29" name="Shape 27"/>
          <p:cNvSpPr/>
          <p:nvPr/>
        </p:nvSpPr>
        <p:spPr>
          <a:xfrm>
            <a:off x="7287768" y="1481328"/>
            <a:ext cx="384048" cy="384048"/>
          </a:xfrm>
          <a:prstGeom prst="ellipse">
            <a:avLst/>
          </a:prstGeom>
          <a:solidFill>
            <a:schemeClr val="bg1"/>
          </a:solidFill>
          <a:ln w="12700">
            <a:solidFill>
              <a:schemeClr val="bg1"/>
            </a:solidFill>
            <a:prstDash val="solid"/>
          </a:ln>
        </p:spPr>
      </p:sp>
      <p:sp>
        <p:nvSpPr>
          <p:cNvPr id="30" name="Text 28"/>
          <p:cNvSpPr txBox="1"/>
          <p:nvPr/>
        </p:nvSpPr>
        <p:spPr>
          <a:xfrm>
            <a:off x="7287768" y="1481328"/>
            <a:ext cx="384048" cy="384048"/>
          </a:xfrm>
          <a:prstGeom prst="rect">
            <a:avLst/>
          </a:prstGeom>
          <a:noFill/>
          <a:ln/>
        </p:spPr>
        <p:txBody>
          <a:bodyPr wrap="square" lIns="0" tIns="0" rIns="0" bIns="0" rtlCol="0" anchor="ctr"/>
          <a:lstStyle/>
          <a:p>
            <a:pPr algn="ctr" indent="0" marL="0">
              <a:buNone/>
            </a:pPr>
            <a:r>
              <a:rPr lang="en-US" sz="1400" b="1" dirty="0">
                <a:solidFill>
                  <a:schemeClr val="accent2"/>
                </a:solidFill>
              </a:rPr>
              <a:t>5</a:t>
            </a:r>
            <a:endParaRPr lang="en-US" sz="1400" dirty="0"/>
          </a:p>
        </p:txBody>
      </p:sp>
      <p:sp>
        <p:nvSpPr>
          <p:cNvPr id="31" name="Text 29"/>
          <p:cNvSpPr txBox="1"/>
          <p:nvPr/>
        </p:nvSpPr>
        <p:spPr>
          <a:xfrm>
            <a:off x="7287768" y="1993392"/>
            <a:ext cx="1243584" cy="27432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Verify</a:t>
            </a:r>
            <a:endParaRPr lang="en-US" sz="1500" dirty="0"/>
          </a:p>
        </p:txBody>
      </p:sp>
      <p:sp>
        <p:nvSpPr>
          <p:cNvPr id="32" name="Text 30"/>
          <p:cNvSpPr txBox="1"/>
          <p:nvPr/>
        </p:nvSpPr>
        <p:spPr>
          <a:xfrm>
            <a:off x="7287768" y="2304288"/>
            <a:ext cx="1243584" cy="1463040"/>
          </a:xfrm>
          <a:prstGeom prst="rect">
            <a:avLst/>
          </a:prstGeom>
          <a:noFill/>
          <a:ln/>
        </p:spPr>
        <p:txBody>
          <a:bodyPr wrap="square" lIns="0" tIns="0" rIns="0" bIns="0" rtlCol="0" anchor="t"/>
          <a:lstStyle/>
          <a:p>
            <a:pPr indent="0" marL="0">
              <a:buNone/>
            </a:pPr>
            <a:r>
              <a:rPr lang="en-US" sz="1100" dirty="0">
                <a:solidFill>
                  <a:schemeClr val="bg1"/>
                </a:solidFill>
              </a:rPr>
              <a:t>Qwen writes a cited answer; every citation is then checked against the retrieved pages.</a:t>
            </a:r>
            <a:endParaRPr lang="en-US" sz="1100" dirty="0"/>
          </a:p>
        </p:txBody>
      </p:sp>
      <p:sp>
        <p:nvSpPr>
          <p:cNvPr id="33" name="Text 31"/>
          <p:cNvSpPr txBox="1"/>
          <p:nvPr/>
        </p:nvSpPr>
        <p:spPr>
          <a:xfrm>
            <a:off x="7150608" y="3931920"/>
            <a:ext cx="1517904" cy="228600"/>
          </a:xfrm>
          <a:prstGeom prst="rect">
            <a:avLst/>
          </a:prstGeom>
          <a:noFill/>
          <a:ln/>
        </p:spPr>
        <p:txBody>
          <a:bodyPr wrap="square" lIns="0" tIns="0" rIns="0" bIns="0" rtlCol="0" anchor="t"/>
          <a:lstStyle/>
          <a:p>
            <a:pPr indent="0" marL="0">
              <a:buNone/>
            </a:pPr>
            <a:r>
              <a:rPr lang="en-US" sz="1000" i="1" dirty="0">
                <a:solidFill>
                  <a:schemeClr val="tx2"/>
                </a:solidFill>
              </a:rPr>
              <a:t>Qwen 2.5 7B · Ollama</a:t>
            </a:r>
            <a:endParaRPr lang="en-US" sz="1000" dirty="0"/>
          </a:p>
        </p:txBody>
      </p:sp>
      <p:sp>
        <p:nvSpPr>
          <p:cNvPr id="34" name="Text 32"/>
          <p:cNvSpPr txBox="1"/>
          <p:nvPr/>
        </p:nvSpPr>
        <p:spPr>
          <a:xfrm>
            <a:off x="457200" y="4315968"/>
            <a:ext cx="8229600" cy="274320"/>
          </a:xfrm>
          <a:prstGeom prst="rect">
            <a:avLst/>
          </a:prstGeom>
          <a:noFill/>
          <a:ln/>
        </p:spPr>
        <p:txBody>
          <a:bodyPr wrap="square" lIns="0" tIns="0" rIns="0" bIns="0" rtlCol="0" anchor="t"/>
          <a:lstStyle/>
          <a:p>
            <a:pPr indent="0" marL="0">
              <a:buNone/>
            </a:pPr>
            <a:r>
              <a:rPr lang="en-US" sz="1200" dirty="0">
                <a:solidFill>
                  <a:schemeClr val="tx1"/>
                </a:solidFill>
              </a:rPr>
              <a:t>Python · FastAPI · Qdrant · SQLite · React + Vite · server-sent events for streaming</a:t>
            </a:r>
            <a:endParaRPr lang="en-US" sz="12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INGESTION</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Parsing keeps equations, tables and scans intact</a:t>
            </a:r>
            <a:endParaRPr lang="en-US" sz="2600" dirty="0"/>
          </a:p>
        </p:txBody>
      </p:sp>
      <p:sp>
        <p:nvSpPr>
          <p:cNvPr id="4" name="Shape 2"/>
          <p:cNvSpPr/>
          <p:nvPr/>
        </p:nvSpPr>
        <p:spPr>
          <a:xfrm>
            <a:off x="457200" y="1280160"/>
            <a:ext cx="411480" cy="411480"/>
          </a:xfrm>
          <a:prstGeom prst="ellipse">
            <a:avLst/>
          </a:prstGeom>
          <a:solidFill>
            <a:srgbClr val="0D9488"/>
          </a:solidFill>
          <a:ln w="1270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555955" y="1378915"/>
            <a:ext cx="213970" cy="213970"/>
          </a:xfrm>
          <a:prstGeom prst="rect">
            <a:avLst/>
          </a:prstGeom>
        </p:spPr>
      </p:pic>
      <p:sp>
        <p:nvSpPr>
          <p:cNvPr id="6" name="Text 3"/>
          <p:cNvSpPr txBox="1"/>
          <p:nvPr/>
        </p:nvSpPr>
        <p:spPr>
          <a:xfrm>
            <a:off x="1005840" y="1261872"/>
            <a:ext cx="3291840" cy="246888"/>
          </a:xfrm>
          <a:prstGeom prst="rect">
            <a:avLst/>
          </a:prstGeom>
          <a:noFill/>
          <a:ln/>
        </p:spPr>
        <p:txBody>
          <a:bodyPr wrap="square" lIns="0" tIns="0" rIns="0" bIns="0" rtlCol="0" anchor="t"/>
          <a:lstStyle/>
          <a:p>
            <a:pPr indent="0" marL="0">
              <a:buNone/>
            </a:pPr>
            <a:r>
              <a:rPr lang="en-US" sz="1400" b="1" dirty="0">
                <a:solidFill>
                  <a:schemeClr val="tx1"/>
                </a:solidFill>
              </a:rPr>
              <a:t>Image-only equation → LaTeX</a:t>
            </a:r>
            <a:endParaRPr lang="en-US" sz="1400" dirty="0"/>
          </a:p>
        </p:txBody>
      </p:sp>
      <p:sp>
        <p:nvSpPr>
          <p:cNvPr id="7" name="Text 4"/>
          <p:cNvSpPr txBox="1"/>
          <p:nvPr/>
        </p:nvSpPr>
        <p:spPr>
          <a:xfrm>
            <a:off x="1005840" y="1517904"/>
            <a:ext cx="3291840" cy="502920"/>
          </a:xfrm>
          <a:prstGeom prst="rect">
            <a:avLst/>
          </a:prstGeom>
          <a:noFill/>
          <a:ln/>
        </p:spPr>
        <p:txBody>
          <a:bodyPr wrap="square" lIns="0" tIns="0" rIns="0" bIns="0" rtlCol="0" anchor="t"/>
          <a:lstStyle/>
          <a:p>
            <a:pPr indent="0" marL="0">
              <a:buNone/>
            </a:pPr>
            <a:r>
              <a:rPr lang="en-US" sz="1100" dirty="0">
                <a:solidFill>
                  <a:schemeClr val="tx2"/>
                </a:solidFill>
              </a:rPr>
              <a:t>Bayes' rule recovered as LaTeX from a slide where the formula is only a picture</a:t>
            </a:r>
            <a:endParaRPr lang="en-US" sz="1100" dirty="0"/>
          </a:p>
        </p:txBody>
      </p:sp>
      <p:sp>
        <p:nvSpPr>
          <p:cNvPr id="8" name="Shape 5"/>
          <p:cNvSpPr/>
          <p:nvPr/>
        </p:nvSpPr>
        <p:spPr>
          <a:xfrm>
            <a:off x="457200" y="2084832"/>
            <a:ext cx="411480" cy="411480"/>
          </a:xfrm>
          <a:prstGeom prst="ellipse">
            <a:avLst/>
          </a:prstGeom>
          <a:solidFill>
            <a:srgbClr val="0D9488"/>
          </a:solidFill>
          <a:ln w="12700">
            <a:solidFill>
              <a:srgbClr val="0D9488"/>
            </a:solidFill>
            <a:prstDash val="solid"/>
          </a:ln>
        </p:spPr>
      </p:sp>
      <p:pic>
        <p:nvPicPr>
          <p:cNvPr id="9" name="Image 1" descr="preencoded.png">    </p:cNvPr>
          <p:cNvPicPr>
            <a:picLocks noChangeAspect="1"/>
          </p:cNvPicPr>
          <p:nvPr/>
        </p:nvPicPr>
        <p:blipFill>
          <a:blip r:embed="rId2"/>
          <a:stretch>
            <a:fillRect/>
          </a:stretch>
        </p:blipFill>
        <p:spPr>
          <a:xfrm>
            <a:off x="555955" y="2183587"/>
            <a:ext cx="213970" cy="213970"/>
          </a:xfrm>
          <a:prstGeom prst="rect">
            <a:avLst/>
          </a:prstGeom>
        </p:spPr>
      </p:pic>
      <p:sp>
        <p:nvSpPr>
          <p:cNvPr id="10" name="Text 6"/>
          <p:cNvSpPr txBox="1"/>
          <p:nvPr/>
        </p:nvSpPr>
        <p:spPr>
          <a:xfrm>
            <a:off x="1005840" y="2066544"/>
            <a:ext cx="3291840" cy="246888"/>
          </a:xfrm>
          <a:prstGeom prst="rect">
            <a:avLst/>
          </a:prstGeom>
          <a:noFill/>
          <a:ln/>
        </p:spPr>
        <p:txBody>
          <a:bodyPr wrap="square" lIns="0" tIns="0" rIns="0" bIns="0" rtlCol="0" anchor="t"/>
          <a:lstStyle/>
          <a:p>
            <a:pPr indent="0" marL="0">
              <a:buNone/>
            </a:pPr>
            <a:r>
              <a:rPr lang="en-US" sz="1400" b="1" dirty="0">
                <a:solidFill>
                  <a:schemeClr val="tx1"/>
                </a:solidFill>
              </a:rPr>
              <a:t>Table → Markdown rows</a:t>
            </a:r>
            <a:endParaRPr lang="en-US" sz="1400" dirty="0"/>
          </a:p>
        </p:txBody>
      </p:sp>
      <p:sp>
        <p:nvSpPr>
          <p:cNvPr id="11" name="Text 7"/>
          <p:cNvSpPr txBox="1"/>
          <p:nvPr/>
        </p:nvSpPr>
        <p:spPr>
          <a:xfrm>
            <a:off x="1005840" y="2322576"/>
            <a:ext cx="3291840" cy="502920"/>
          </a:xfrm>
          <a:prstGeom prst="rect">
            <a:avLst/>
          </a:prstGeom>
          <a:noFill/>
          <a:ln/>
        </p:spPr>
        <p:txBody>
          <a:bodyPr wrap="square" lIns="0" tIns="0" rIns="0" bIns="0" rtlCol="0" anchor="t"/>
          <a:lstStyle/>
          <a:p>
            <a:pPr indent="0" marL="0">
              <a:buNone/>
            </a:pPr>
            <a:r>
              <a:rPr lang="en-US" sz="1100" dirty="0">
                <a:solidFill>
                  <a:schemeClr val="tx2"/>
                </a:solidFill>
              </a:rPr>
              <a:t>Kernel table keeps its 4 rows × 3 columns; rows are also rewritten as sentences for search</a:t>
            </a:r>
            <a:endParaRPr lang="en-US" sz="1100" dirty="0"/>
          </a:p>
        </p:txBody>
      </p:sp>
      <p:sp>
        <p:nvSpPr>
          <p:cNvPr id="12" name="Shape 8"/>
          <p:cNvSpPr/>
          <p:nvPr/>
        </p:nvSpPr>
        <p:spPr>
          <a:xfrm>
            <a:off x="457200" y="2889504"/>
            <a:ext cx="411480" cy="411480"/>
          </a:xfrm>
          <a:prstGeom prst="ellipse">
            <a:avLst/>
          </a:prstGeom>
          <a:solidFill>
            <a:srgbClr val="0D9488"/>
          </a:solidFill>
          <a:ln w="12700">
            <a:solidFill>
              <a:srgbClr val="0D9488"/>
            </a:solidFill>
            <a:prstDash val="solid"/>
          </a:ln>
        </p:spPr>
      </p:sp>
      <p:pic>
        <p:nvPicPr>
          <p:cNvPr id="13" name="Image 2" descr="preencoded.png">    </p:cNvPr>
          <p:cNvPicPr>
            <a:picLocks noChangeAspect="1"/>
          </p:cNvPicPr>
          <p:nvPr/>
        </p:nvPicPr>
        <p:blipFill>
          <a:blip r:embed="rId3"/>
          <a:stretch>
            <a:fillRect/>
          </a:stretch>
        </p:blipFill>
        <p:spPr>
          <a:xfrm>
            <a:off x="555955" y="2988259"/>
            <a:ext cx="213970" cy="213970"/>
          </a:xfrm>
          <a:prstGeom prst="rect">
            <a:avLst/>
          </a:prstGeom>
        </p:spPr>
      </p:pic>
      <p:sp>
        <p:nvSpPr>
          <p:cNvPr id="14" name="Text 9"/>
          <p:cNvSpPr txBox="1"/>
          <p:nvPr/>
        </p:nvSpPr>
        <p:spPr>
          <a:xfrm>
            <a:off x="1005840" y="2871216"/>
            <a:ext cx="3291840" cy="246888"/>
          </a:xfrm>
          <a:prstGeom prst="rect">
            <a:avLst/>
          </a:prstGeom>
          <a:noFill/>
          <a:ln/>
        </p:spPr>
        <p:txBody>
          <a:bodyPr wrap="square" lIns="0" tIns="0" rIns="0" bIns="0" rtlCol="0" anchor="t"/>
          <a:lstStyle/>
          <a:p>
            <a:pPr indent="0" marL="0">
              <a:buNone/>
            </a:pPr>
            <a:r>
              <a:rPr lang="en-US" sz="1400" b="1" dirty="0">
                <a:solidFill>
                  <a:schemeClr val="tx1"/>
                </a:solidFill>
              </a:rPr>
              <a:t>Handwriting → text</a:t>
            </a:r>
            <a:endParaRPr lang="en-US" sz="1400" dirty="0"/>
          </a:p>
        </p:txBody>
      </p:sp>
      <p:sp>
        <p:nvSpPr>
          <p:cNvPr id="15" name="Text 10"/>
          <p:cNvSpPr txBox="1"/>
          <p:nvPr/>
        </p:nvSpPr>
        <p:spPr>
          <a:xfrm>
            <a:off x="1005840" y="3127248"/>
            <a:ext cx="3291840" cy="502920"/>
          </a:xfrm>
          <a:prstGeom prst="rect">
            <a:avLst/>
          </a:prstGeom>
          <a:noFill/>
          <a:ln/>
        </p:spPr>
        <p:txBody>
          <a:bodyPr wrap="square" lIns="0" tIns="0" rIns="0" bIns="0" rtlCol="0" anchor="t"/>
          <a:lstStyle/>
          <a:p>
            <a:pPr indent="0" marL="0">
              <a:buNone/>
            </a:pPr>
            <a:r>
              <a:rPr lang="en-US" sz="1100" dirty="0">
                <a:solidFill>
                  <a:schemeClr val="tx2"/>
                </a:solidFill>
              </a:rPr>
              <a:t>Scanned notes are OCR'd: “If alpha is too large, gradient descent can overshoot…”</a:t>
            </a:r>
            <a:endParaRPr lang="en-US" sz="1100" dirty="0"/>
          </a:p>
        </p:txBody>
      </p:sp>
      <p:sp>
        <p:nvSpPr>
          <p:cNvPr id="16" name="Shape 11"/>
          <p:cNvSpPr/>
          <p:nvPr/>
        </p:nvSpPr>
        <p:spPr>
          <a:xfrm>
            <a:off x="457200" y="3694176"/>
            <a:ext cx="411480" cy="411480"/>
          </a:xfrm>
          <a:prstGeom prst="ellipse">
            <a:avLst/>
          </a:prstGeom>
          <a:solidFill>
            <a:srgbClr val="0D9488"/>
          </a:solidFill>
          <a:ln w="12700">
            <a:solidFill>
              <a:srgbClr val="0D9488"/>
            </a:solidFill>
            <a:prstDash val="solid"/>
          </a:ln>
        </p:spPr>
      </p:sp>
      <p:pic>
        <p:nvPicPr>
          <p:cNvPr id="17" name="Image 3" descr="preencoded.png">    </p:cNvPr>
          <p:cNvPicPr>
            <a:picLocks noChangeAspect="1"/>
          </p:cNvPicPr>
          <p:nvPr/>
        </p:nvPicPr>
        <p:blipFill>
          <a:blip r:embed="rId4"/>
          <a:stretch>
            <a:fillRect/>
          </a:stretch>
        </p:blipFill>
        <p:spPr>
          <a:xfrm>
            <a:off x="555955" y="3792931"/>
            <a:ext cx="213970" cy="213970"/>
          </a:xfrm>
          <a:prstGeom prst="rect">
            <a:avLst/>
          </a:prstGeom>
        </p:spPr>
      </p:pic>
      <p:sp>
        <p:nvSpPr>
          <p:cNvPr id="18" name="Text 12"/>
          <p:cNvSpPr txBox="1"/>
          <p:nvPr/>
        </p:nvSpPr>
        <p:spPr>
          <a:xfrm>
            <a:off x="1005840" y="3675888"/>
            <a:ext cx="3291840" cy="246888"/>
          </a:xfrm>
          <a:prstGeom prst="rect">
            <a:avLst/>
          </a:prstGeom>
          <a:noFill/>
          <a:ln/>
        </p:spPr>
        <p:txBody>
          <a:bodyPr wrap="square" lIns="0" tIns="0" rIns="0" bIns="0" rtlCol="0" anchor="t"/>
          <a:lstStyle/>
          <a:p>
            <a:pPr indent="0" marL="0">
              <a:buNone/>
            </a:pPr>
            <a:r>
              <a:rPr lang="en-US" sz="1400" b="1" dirty="0">
                <a:solidFill>
                  <a:schemeClr val="tx1"/>
                </a:solidFill>
              </a:rPr>
              <a:t>Structure → parent/child chunks</a:t>
            </a:r>
            <a:endParaRPr lang="en-US" sz="1400" dirty="0"/>
          </a:p>
        </p:txBody>
      </p:sp>
      <p:sp>
        <p:nvSpPr>
          <p:cNvPr id="19" name="Text 13"/>
          <p:cNvSpPr txBox="1"/>
          <p:nvPr/>
        </p:nvSpPr>
        <p:spPr>
          <a:xfrm>
            <a:off x="1005840" y="3931920"/>
            <a:ext cx="3291840" cy="502920"/>
          </a:xfrm>
          <a:prstGeom prst="rect">
            <a:avLst/>
          </a:prstGeom>
          <a:noFill/>
          <a:ln/>
        </p:spPr>
        <p:txBody>
          <a:bodyPr wrap="square" lIns="0" tIns="0" rIns="0" bIns="0" rtlCol="0" anchor="t"/>
          <a:lstStyle/>
          <a:p>
            <a:pPr indent="0" marL="0">
              <a:buNone/>
            </a:pPr>
            <a:r>
              <a:rPr lang="en-US" sz="1100" dirty="0">
                <a:solidFill>
                  <a:schemeClr val="tx2"/>
                </a:solidFill>
              </a:rPr>
              <a:t>Headings and slides set the parents; a formula or table is never split</a:t>
            </a:r>
            <a:endParaRPr lang="en-US" sz="1100" dirty="0"/>
          </a:p>
        </p:txBody>
      </p:sp>
      <p:pic>
        <p:nvPicPr>
          <p:cNvPr id="20" name="Image 4" descr="ui_preview.png">    </p:cNvPr>
          <p:cNvPicPr>
            <a:picLocks noChangeAspect="1"/>
          </p:cNvPicPr>
          <p:nvPr/>
        </p:nvPicPr>
        <p:blipFill>
          <a:blip r:embed="rId5"/>
          <a:stretch>
            <a:fillRect/>
          </a:stretch>
        </p:blipFill>
        <p:spPr>
          <a:xfrm>
            <a:off x="4526280" y="1280160"/>
            <a:ext cx="4160520" cy="2600325"/>
          </a:xfrm>
          <a:prstGeom prst="rect">
            <a:avLst/>
          </a:prstGeom>
        </p:spPr>
      </p:pic>
      <p:sp>
        <p:nvSpPr>
          <p:cNvPr id="21" name="Shape 14"/>
          <p:cNvSpPr/>
          <p:nvPr/>
        </p:nvSpPr>
        <p:spPr>
          <a:xfrm>
            <a:off x="4526280" y="1280160"/>
            <a:ext cx="4160520" cy="2600325"/>
          </a:xfrm>
          <a:prstGeom prst="rect">
            <a:avLst/>
          </a:prstGeom>
          <a:ln w="9525">
            <a:solidFill>
              <a:srgbClr val="CBD5E1"/>
            </a:solidFill>
            <a:prstDash val="solid"/>
          </a:ln>
        </p:spPr>
      </p:sp>
      <p:sp>
        <p:nvSpPr>
          <p:cNvPr id="22" name="Text 15"/>
          <p:cNvSpPr txBox="1"/>
          <p:nvPr/>
        </p:nvSpPr>
        <p:spPr>
          <a:xfrm>
            <a:off x="4526280" y="3977640"/>
            <a:ext cx="132588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13</a:t>
            </a:r>
            <a:endParaRPr lang="en-US" sz="2400" dirty="0"/>
          </a:p>
        </p:txBody>
      </p:sp>
      <p:sp>
        <p:nvSpPr>
          <p:cNvPr id="23" name="Text 16"/>
          <p:cNvSpPr txBox="1"/>
          <p:nvPr/>
        </p:nvSpPr>
        <p:spPr>
          <a:xfrm>
            <a:off x="4526280" y="4389120"/>
            <a:ext cx="1325880" cy="228600"/>
          </a:xfrm>
          <a:prstGeom prst="rect">
            <a:avLst/>
          </a:prstGeom>
          <a:noFill/>
          <a:ln/>
        </p:spPr>
        <p:txBody>
          <a:bodyPr wrap="square" lIns="0" tIns="0" rIns="0" bIns="0" rtlCol="0" anchor="t"/>
          <a:lstStyle/>
          <a:p>
            <a:pPr indent="0" marL="0">
              <a:buNone/>
            </a:pPr>
            <a:r>
              <a:rPr lang="en-US" sz="1000" dirty="0">
                <a:solidFill>
                  <a:schemeClr val="tx2"/>
                </a:solidFill>
              </a:rPr>
              <a:t>pages</a:t>
            </a:r>
            <a:endParaRPr lang="en-US" sz="1000" dirty="0"/>
          </a:p>
        </p:txBody>
      </p:sp>
      <p:sp>
        <p:nvSpPr>
          <p:cNvPr id="24" name="Text 17"/>
          <p:cNvSpPr txBox="1"/>
          <p:nvPr/>
        </p:nvSpPr>
        <p:spPr>
          <a:xfrm>
            <a:off x="5943600" y="3977640"/>
            <a:ext cx="132588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41 s</a:t>
            </a:r>
            <a:endParaRPr lang="en-US" sz="2400" dirty="0"/>
          </a:p>
        </p:txBody>
      </p:sp>
      <p:sp>
        <p:nvSpPr>
          <p:cNvPr id="25" name="Text 18"/>
          <p:cNvSpPr txBox="1"/>
          <p:nvPr/>
        </p:nvSpPr>
        <p:spPr>
          <a:xfrm>
            <a:off x="5943600" y="4389120"/>
            <a:ext cx="1325880" cy="228600"/>
          </a:xfrm>
          <a:prstGeom prst="rect">
            <a:avLst/>
          </a:prstGeom>
          <a:noFill/>
          <a:ln/>
        </p:spPr>
        <p:txBody>
          <a:bodyPr wrap="square" lIns="0" tIns="0" rIns="0" bIns="0" rtlCol="0" anchor="t"/>
          <a:lstStyle/>
          <a:p>
            <a:pPr indent="0" marL="0">
              <a:buNone/>
            </a:pPr>
            <a:r>
              <a:rPr lang="en-US" sz="1000" dirty="0">
                <a:solidFill>
                  <a:schemeClr val="tx2"/>
                </a:solidFill>
              </a:rPr>
              <a:t>on the GPU</a:t>
            </a:r>
            <a:endParaRPr lang="en-US" sz="1000" dirty="0"/>
          </a:p>
        </p:txBody>
      </p:sp>
      <p:sp>
        <p:nvSpPr>
          <p:cNvPr id="26" name="Text 19"/>
          <p:cNvSpPr txBox="1"/>
          <p:nvPr/>
        </p:nvSpPr>
        <p:spPr>
          <a:xfrm>
            <a:off x="7360920" y="3977640"/>
            <a:ext cx="132588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23</a:t>
            </a:r>
            <a:endParaRPr lang="en-US" sz="2400" dirty="0"/>
          </a:p>
        </p:txBody>
      </p:sp>
      <p:sp>
        <p:nvSpPr>
          <p:cNvPr id="27" name="Text 20"/>
          <p:cNvSpPr txBox="1"/>
          <p:nvPr/>
        </p:nvSpPr>
        <p:spPr>
          <a:xfrm>
            <a:off x="7360920" y="4389120"/>
            <a:ext cx="1325880" cy="228600"/>
          </a:xfrm>
          <a:prstGeom prst="rect">
            <a:avLst/>
          </a:prstGeom>
          <a:noFill/>
          <a:ln/>
        </p:spPr>
        <p:txBody>
          <a:bodyPr wrap="square" lIns="0" tIns="0" rIns="0" bIns="0" rtlCol="0" anchor="t"/>
          <a:lstStyle/>
          <a:p>
            <a:pPr indent="0" marL="0">
              <a:buNone/>
            </a:pPr>
            <a:r>
              <a:rPr lang="en-US" sz="1000" dirty="0">
                <a:solidFill>
                  <a:schemeClr val="tx2"/>
                </a:solidFill>
              </a:rPr>
              <a:t>search chunks</a:t>
            </a:r>
            <a:endParaRPr lang="en-US" sz="10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RETRIEVAL</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Hybrid search finds both meaning and exact symbols</a:t>
            </a:r>
            <a:endParaRPr lang="en-US" sz="2600" dirty="0"/>
          </a:p>
        </p:txBody>
      </p:sp>
      <p:sp>
        <p:nvSpPr>
          <p:cNvPr id="4" name="Shape 2"/>
          <p:cNvSpPr/>
          <p:nvPr/>
        </p:nvSpPr>
        <p:spPr>
          <a:xfrm>
            <a:off x="457200" y="1325880"/>
            <a:ext cx="2377440" cy="914400"/>
          </a:xfrm>
          <a:prstGeom prst="roundRect">
            <a:avLst>
              <a:gd name="adj" fmla="val 8000"/>
            </a:avLst>
          </a:prstGeom>
          <a:solidFill>
            <a:schemeClr val="bg2"/>
          </a:solidFill>
          <a:ln w="9525">
            <a:solidFill>
              <a:schemeClr val="bg2"/>
            </a:solidFill>
            <a:prstDash val="solid"/>
          </a:ln>
        </p:spPr>
      </p:sp>
      <p:sp>
        <p:nvSpPr>
          <p:cNvPr id="5" name="Text 3"/>
          <p:cNvSpPr txBox="1"/>
          <p:nvPr/>
        </p:nvSpPr>
        <p:spPr>
          <a:xfrm>
            <a:off x="640080" y="1463040"/>
            <a:ext cx="2103120" cy="685800"/>
          </a:xfrm>
          <a:prstGeom prst="rect">
            <a:avLst/>
          </a:prstGeom>
          <a:noFill/>
          <a:ln/>
        </p:spPr>
        <p:txBody>
          <a:bodyPr wrap="square" lIns="0" tIns="0" rIns="0" bIns="0" rtlCol="0" anchor="t"/>
          <a:lstStyle/>
          <a:p>
            <a:pPr indent="0" marL="0">
              <a:buNone/>
            </a:pPr>
            <a:r>
              <a:rPr lang="en-US" sz="1300" b="1" dirty="0">
                <a:solidFill>
                  <a:schemeClr val="tx1"/>
                </a:solidFill>
              </a:rPr>
              <a:t>Dense · BGE-M3</a:t>
            </a:r>
            <a:endParaRPr lang="en-US" sz="1300" dirty="0"/>
          </a:p>
          <a:p>
            <a:pPr indent="0" marL="0">
              <a:buNone/>
            </a:pPr>
            <a:r>
              <a:rPr lang="en-US" sz="1300" dirty="0">
                <a:solidFill>
                  <a:schemeClr val="tx2"/>
                </a:solidFill>
              </a:rPr>
              <a:t>top 25 by meaning</a:t>
            </a:r>
            <a:endParaRPr lang="en-US" sz="1300" dirty="0"/>
          </a:p>
        </p:txBody>
      </p:sp>
      <p:sp>
        <p:nvSpPr>
          <p:cNvPr id="6" name="Shape 4"/>
          <p:cNvSpPr/>
          <p:nvPr/>
        </p:nvSpPr>
        <p:spPr>
          <a:xfrm>
            <a:off x="457200" y="2423160"/>
            <a:ext cx="2377440" cy="914400"/>
          </a:xfrm>
          <a:prstGeom prst="roundRect">
            <a:avLst>
              <a:gd name="adj" fmla="val 8000"/>
            </a:avLst>
          </a:prstGeom>
          <a:solidFill>
            <a:schemeClr val="bg2"/>
          </a:solidFill>
          <a:ln w="9525">
            <a:solidFill>
              <a:schemeClr val="bg2"/>
            </a:solidFill>
            <a:prstDash val="solid"/>
          </a:ln>
        </p:spPr>
      </p:sp>
      <p:sp>
        <p:nvSpPr>
          <p:cNvPr id="7" name="Text 5"/>
          <p:cNvSpPr txBox="1"/>
          <p:nvPr/>
        </p:nvSpPr>
        <p:spPr>
          <a:xfrm>
            <a:off x="640080" y="2560320"/>
            <a:ext cx="2103120" cy="685800"/>
          </a:xfrm>
          <a:prstGeom prst="rect">
            <a:avLst/>
          </a:prstGeom>
          <a:noFill/>
          <a:ln/>
        </p:spPr>
        <p:txBody>
          <a:bodyPr wrap="square" lIns="0" tIns="0" rIns="0" bIns="0" rtlCol="0" anchor="t"/>
          <a:lstStyle/>
          <a:p>
            <a:pPr indent="0" marL="0">
              <a:buNone/>
            </a:pPr>
            <a:r>
              <a:rPr lang="en-US" sz="1300" b="1" dirty="0">
                <a:solidFill>
                  <a:schemeClr val="tx1"/>
                </a:solidFill>
              </a:rPr>
              <a:t>Keyword · BM25</a:t>
            </a:r>
            <a:endParaRPr lang="en-US" sz="1300" dirty="0"/>
          </a:p>
          <a:p>
            <a:pPr indent="0" marL="0">
              <a:buNone/>
            </a:pPr>
            <a:r>
              <a:rPr lang="en-US" sz="1300" dirty="0">
                <a:solidFill>
                  <a:schemeClr val="tx2"/>
                </a:solidFill>
              </a:rPr>
              <a:t>top 25; “α” = “\alpha”, “Lemma 3.2”</a:t>
            </a:r>
            <a:endParaRPr lang="en-US" sz="1300" dirty="0"/>
          </a:p>
        </p:txBody>
      </p:sp>
      <p:sp>
        <p:nvSpPr>
          <p:cNvPr id="8" name="Shape 6"/>
          <p:cNvSpPr/>
          <p:nvPr/>
        </p:nvSpPr>
        <p:spPr>
          <a:xfrm>
            <a:off x="2926080" y="2103120"/>
            <a:ext cx="365760" cy="457200"/>
          </a:xfrm>
          <a:prstGeom prst="rightArrow">
            <a:avLst/>
          </a:prstGeom>
          <a:solidFill>
            <a:schemeClr val="tx2"/>
          </a:solidFill>
          <a:ln w="12700">
            <a:solidFill>
              <a:schemeClr val="tx2"/>
            </a:solidFill>
            <a:prstDash val="solid"/>
          </a:ln>
        </p:spPr>
      </p:sp>
      <p:sp>
        <p:nvSpPr>
          <p:cNvPr id="9" name="Shape 7"/>
          <p:cNvSpPr/>
          <p:nvPr/>
        </p:nvSpPr>
        <p:spPr>
          <a:xfrm>
            <a:off x="3383280" y="1325880"/>
            <a:ext cx="2468880" cy="2011680"/>
          </a:xfrm>
          <a:prstGeom prst="roundRect">
            <a:avLst>
              <a:gd name="adj" fmla="val 3636"/>
            </a:avLst>
          </a:prstGeom>
          <a:solidFill>
            <a:schemeClr val="tx1"/>
          </a:solidFill>
          <a:ln w="9525">
            <a:solidFill>
              <a:schemeClr val="tx1"/>
            </a:solidFill>
            <a:prstDash val="solid"/>
          </a:ln>
        </p:spPr>
      </p:sp>
      <p:sp>
        <p:nvSpPr>
          <p:cNvPr id="10" name="Text 8"/>
          <p:cNvSpPr txBox="1"/>
          <p:nvPr/>
        </p:nvSpPr>
        <p:spPr>
          <a:xfrm>
            <a:off x="3566160" y="1463040"/>
            <a:ext cx="2194560" cy="274320"/>
          </a:xfrm>
          <a:prstGeom prst="rect">
            <a:avLst/>
          </a:prstGeom>
          <a:noFill/>
          <a:ln/>
        </p:spPr>
        <p:txBody>
          <a:bodyPr wrap="square" lIns="0" tIns="0" rIns="0" bIns="0" rtlCol="0" anchor="t"/>
          <a:lstStyle/>
          <a:p>
            <a:pPr indent="0" marL="0">
              <a:buNone/>
            </a:pPr>
            <a:r>
              <a:rPr lang="en-US" sz="1400" b="1" dirty="0">
                <a:solidFill>
                  <a:schemeClr val="bg1"/>
                </a:solidFill>
              </a:rPr>
              <a:t>Reciprocal Rank Fusion</a:t>
            </a:r>
            <a:endParaRPr lang="en-US" sz="1400" dirty="0"/>
          </a:p>
        </p:txBody>
      </p:sp>
      <p:sp>
        <p:nvSpPr>
          <p:cNvPr id="11" name="Text 9"/>
          <p:cNvSpPr txBox="1"/>
          <p:nvPr/>
        </p:nvSpPr>
        <p:spPr>
          <a:xfrm>
            <a:off x="3566160" y="1874520"/>
            <a:ext cx="2240280" cy="365760"/>
          </a:xfrm>
          <a:prstGeom prst="rect">
            <a:avLst/>
          </a:prstGeom>
          <a:noFill/>
          <a:ln/>
        </p:spPr>
        <p:txBody>
          <a:bodyPr wrap="square" lIns="0" tIns="0" rIns="0" bIns="0" rtlCol="0" anchor="t"/>
          <a:lstStyle/>
          <a:p>
            <a:pPr indent="0" marL="0">
              <a:buNone/>
            </a:pPr>
            <a:r>
              <a:rPr lang="en-US" sz="1300" i="1" dirty="0">
                <a:solidFill>
                  <a:schemeClr val="accent2"/>
                </a:solidFill>
                <a:latin typeface="Cambria" pitchFamily="34" charset="0"/>
                <a:ea typeface="Cambria" pitchFamily="34" charset="-122"/>
                <a:cs typeface="Cambria" pitchFamily="34" charset="-120"/>
              </a:rPr>
              <a:t>RRF(d) = Σₘ 1 / (60 + rankₘ(d))</a:t>
            </a:r>
            <a:endParaRPr lang="en-US" sz="1300" dirty="0"/>
          </a:p>
        </p:txBody>
      </p:sp>
      <p:sp>
        <p:nvSpPr>
          <p:cNvPr id="12" name="Text 10"/>
          <p:cNvSpPr txBox="1"/>
          <p:nvPr/>
        </p:nvSpPr>
        <p:spPr>
          <a:xfrm>
            <a:off x="3566160" y="2377440"/>
            <a:ext cx="2148840" cy="822960"/>
          </a:xfrm>
          <a:prstGeom prst="rect">
            <a:avLst/>
          </a:prstGeom>
          <a:noFill/>
          <a:ln/>
        </p:spPr>
        <p:txBody>
          <a:bodyPr wrap="square" lIns="0" tIns="0" rIns="0" bIns="0" rtlCol="0" anchor="t"/>
          <a:lstStyle/>
          <a:p>
            <a:pPr indent="0" marL="0">
              <a:buNone/>
            </a:pPr>
            <a:r>
              <a:rPr lang="en-US" sz="1100" dirty="0">
                <a:solidFill>
                  <a:schemeClr val="bg2"/>
                </a:solidFill>
              </a:rPr>
              <a:t>top 15 children → their parent sections, so the model sees whole derivations</a:t>
            </a:r>
            <a:endParaRPr lang="en-US" sz="1100" dirty="0"/>
          </a:p>
        </p:txBody>
      </p:sp>
      <p:sp>
        <p:nvSpPr>
          <p:cNvPr id="13" name="Shape 11"/>
          <p:cNvSpPr/>
          <p:nvPr/>
        </p:nvSpPr>
        <p:spPr>
          <a:xfrm>
            <a:off x="5943600" y="2103120"/>
            <a:ext cx="365760" cy="457200"/>
          </a:xfrm>
          <a:prstGeom prst="rightArrow">
            <a:avLst/>
          </a:prstGeom>
          <a:solidFill>
            <a:schemeClr val="tx2"/>
          </a:solidFill>
          <a:ln w="12700">
            <a:solidFill>
              <a:schemeClr val="tx2"/>
            </a:solidFill>
            <a:prstDash val="solid"/>
          </a:ln>
        </p:spPr>
      </p:sp>
      <p:sp>
        <p:nvSpPr>
          <p:cNvPr id="14" name="Shape 12"/>
          <p:cNvSpPr/>
          <p:nvPr/>
        </p:nvSpPr>
        <p:spPr>
          <a:xfrm>
            <a:off x="6400800" y="1325880"/>
            <a:ext cx="2286000" cy="914400"/>
          </a:xfrm>
          <a:prstGeom prst="roundRect">
            <a:avLst>
              <a:gd name="adj" fmla="val 8000"/>
            </a:avLst>
          </a:prstGeom>
          <a:solidFill>
            <a:schemeClr val="bg2"/>
          </a:solidFill>
          <a:ln w="9525">
            <a:solidFill>
              <a:schemeClr val="bg2"/>
            </a:solidFill>
            <a:prstDash val="solid"/>
          </a:ln>
        </p:spPr>
      </p:sp>
      <p:sp>
        <p:nvSpPr>
          <p:cNvPr id="15" name="Text 13"/>
          <p:cNvSpPr txBox="1"/>
          <p:nvPr/>
        </p:nvSpPr>
        <p:spPr>
          <a:xfrm>
            <a:off x="6583680" y="1463040"/>
            <a:ext cx="2011680" cy="685800"/>
          </a:xfrm>
          <a:prstGeom prst="rect">
            <a:avLst/>
          </a:prstGeom>
          <a:noFill/>
          <a:ln/>
        </p:spPr>
        <p:txBody>
          <a:bodyPr wrap="square" lIns="0" tIns="0" rIns="0" bIns="0" rtlCol="0" anchor="t"/>
          <a:lstStyle/>
          <a:p>
            <a:pPr indent="0" marL="0">
              <a:buNone/>
            </a:pPr>
            <a:r>
              <a:rPr lang="en-US" sz="1300" b="1" dirty="0">
                <a:solidFill>
                  <a:schemeClr val="tx1"/>
                </a:solidFill>
              </a:rPr>
              <a:t>Cross-encoder rerank</a:t>
            </a:r>
            <a:endParaRPr lang="en-US" sz="1300" dirty="0"/>
          </a:p>
          <a:p>
            <a:pPr indent="0" marL="0">
              <a:buNone/>
            </a:pPr>
            <a:r>
              <a:rPr lang="en-US" sz="1300" dirty="0">
                <a:solidFill>
                  <a:schemeClr val="tx2"/>
                </a:solidFill>
              </a:rPr>
              <a:t>keep top 5 with score &gt; 0.35</a:t>
            </a:r>
            <a:endParaRPr lang="en-US" sz="1300" dirty="0"/>
          </a:p>
        </p:txBody>
      </p:sp>
      <p:sp>
        <p:nvSpPr>
          <p:cNvPr id="16" name="Shape 14"/>
          <p:cNvSpPr/>
          <p:nvPr/>
        </p:nvSpPr>
        <p:spPr>
          <a:xfrm>
            <a:off x="6400800" y="2423160"/>
            <a:ext cx="2286000" cy="914400"/>
          </a:xfrm>
          <a:prstGeom prst="roundRect">
            <a:avLst>
              <a:gd name="adj" fmla="val 8000"/>
            </a:avLst>
          </a:prstGeom>
          <a:solidFill>
            <a:srgbClr val="FEF3C7"/>
          </a:solidFill>
          <a:ln w="9525">
            <a:solidFill>
              <a:srgbClr val="FEF3C7"/>
            </a:solidFill>
            <a:prstDash val="solid"/>
          </a:ln>
        </p:spPr>
      </p:sp>
      <p:sp>
        <p:nvSpPr>
          <p:cNvPr id="17" name="Text 15"/>
          <p:cNvSpPr txBox="1"/>
          <p:nvPr/>
        </p:nvSpPr>
        <p:spPr>
          <a:xfrm>
            <a:off x="6583680" y="2560320"/>
            <a:ext cx="2011680" cy="685800"/>
          </a:xfrm>
          <a:prstGeom prst="rect">
            <a:avLst/>
          </a:prstGeom>
          <a:noFill/>
          <a:ln/>
        </p:spPr>
        <p:txBody>
          <a:bodyPr wrap="square" lIns="0" tIns="0" rIns="0" bIns="0" rtlCol="0" anchor="t"/>
          <a:lstStyle/>
          <a:p>
            <a:pPr indent="0" marL="0">
              <a:buNone/>
            </a:pPr>
            <a:r>
              <a:rPr lang="en-US" sz="1300" b="1" dirty="0">
                <a:solidFill>
                  <a:schemeClr val="tx1"/>
                </a:solidFill>
              </a:rPr>
              <a:t>Nothing passes?</a:t>
            </a:r>
            <a:endParaRPr lang="en-US" sz="1300" dirty="0"/>
          </a:p>
          <a:p>
            <a:pPr indent="0" marL="0">
              <a:buNone/>
            </a:pPr>
            <a:r>
              <a:rPr lang="en-US" sz="1300" dirty="0">
                <a:solidFill>
                  <a:schemeClr val="tx2"/>
                </a:solidFill>
              </a:rPr>
              <a:t>reply “Not found in course notes”</a:t>
            </a:r>
            <a:endParaRPr lang="en-US" sz="1300" dirty="0"/>
          </a:p>
        </p:txBody>
      </p:sp>
      <p:sp>
        <p:nvSpPr>
          <p:cNvPr id="18" name="Text 16"/>
          <p:cNvSpPr txBox="1"/>
          <p:nvPr/>
        </p:nvSpPr>
        <p:spPr>
          <a:xfrm>
            <a:off x="457200" y="3611880"/>
            <a:ext cx="8229600" cy="256032"/>
          </a:xfrm>
          <a:prstGeom prst="rect">
            <a:avLst/>
          </a:prstGeom>
          <a:noFill/>
          <a:ln/>
        </p:spPr>
        <p:txBody>
          <a:bodyPr wrap="square" lIns="0" tIns="0" rIns="0" bIns="0" rtlCol="0" anchor="t"/>
          <a:lstStyle/>
          <a:p>
            <a:pPr indent="0" marL="0">
              <a:buNone/>
            </a:pPr>
            <a:r>
              <a:rPr lang="en-US" sz="1400" b="1" dirty="0">
                <a:solidFill>
                  <a:schemeClr val="tx1"/>
                </a:solidFill>
              </a:rPr>
              <a:t>Why both?</a:t>
            </a:r>
            <a:endParaRPr lang="en-US" sz="1400" dirty="0"/>
          </a:p>
        </p:txBody>
      </p:sp>
      <p:sp>
        <p:nvSpPr>
          <p:cNvPr id="19" name="Text 17"/>
          <p:cNvSpPr txBox="1"/>
          <p:nvPr/>
        </p:nvSpPr>
        <p:spPr>
          <a:xfrm>
            <a:off x="457200" y="3886200"/>
            <a:ext cx="8229600" cy="640080"/>
          </a:xfrm>
          <a:prstGeom prst="rect">
            <a:avLst/>
          </a:prstGeom>
          <a:noFill/>
          <a:ln/>
        </p:spPr>
        <p:txBody>
          <a:bodyPr wrap="square" lIns="0" tIns="0" rIns="0" bIns="0" rtlCol="0" anchor="t"/>
          <a:lstStyle/>
          <a:p>
            <a:pPr indent="0" marL="0">
              <a:buNone/>
            </a:pPr>
            <a:r>
              <a:rPr lang="en-US" sz="1200" dirty="0">
                <a:solidFill>
                  <a:schemeClr val="tx2"/>
                </a:solidFill>
              </a:rPr>
              <a:t>Embeddings understand paraphrases (“why do early inputs stop learning?”) but blur exact tokens; BM25 with a math-aware tokenizer catches theorem numbers, variable names and Greek letters. Fusing ranks, not scores, needs no tuning between the two.</a:t>
            </a:r>
            <a:endParaRPr lang="en-US" sz="12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GROUNDED CHAT</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Every citation is checked against the retrieved pages</a:t>
            </a:r>
            <a:endParaRPr lang="en-US" sz="2600" dirty="0"/>
          </a:p>
        </p:txBody>
      </p:sp>
      <p:pic>
        <p:nvPicPr>
          <p:cNvPr id="4" name="Image 0" descr="ui_chat_viewer.png">    </p:cNvPr>
          <p:cNvPicPr>
            <a:picLocks noChangeAspect="1"/>
          </p:cNvPicPr>
          <p:nvPr/>
        </p:nvPicPr>
        <p:blipFill>
          <a:blip r:embed="rId1"/>
          <a:stretch>
            <a:fillRect/>
          </a:stretch>
        </p:blipFill>
        <p:spPr>
          <a:xfrm>
            <a:off x="457200" y="1280160"/>
            <a:ext cx="4572000" cy="2857500"/>
          </a:xfrm>
          <a:prstGeom prst="rect">
            <a:avLst/>
          </a:prstGeom>
        </p:spPr>
      </p:pic>
      <p:sp>
        <p:nvSpPr>
          <p:cNvPr id="5" name="Shape 2"/>
          <p:cNvSpPr/>
          <p:nvPr/>
        </p:nvSpPr>
        <p:spPr>
          <a:xfrm>
            <a:off x="457200" y="1280160"/>
            <a:ext cx="4572000" cy="2857500"/>
          </a:xfrm>
          <a:prstGeom prst="rect">
            <a:avLst/>
          </a:prstGeom>
          <a:ln w="9525">
            <a:solidFill>
              <a:srgbClr val="CBD5E1"/>
            </a:solidFill>
            <a:prstDash val="solid"/>
          </a:ln>
        </p:spPr>
      </p:sp>
      <p:sp>
        <p:nvSpPr>
          <p:cNvPr id="6" name="Shape 3"/>
          <p:cNvSpPr/>
          <p:nvPr/>
        </p:nvSpPr>
        <p:spPr>
          <a:xfrm>
            <a:off x="5303520" y="1280160"/>
            <a:ext cx="329184" cy="329184"/>
          </a:xfrm>
          <a:prstGeom prst="ellipse">
            <a:avLst/>
          </a:prstGeom>
          <a:solidFill>
            <a:schemeClr val="accent6"/>
          </a:solidFill>
          <a:ln w="12700">
            <a:solidFill>
              <a:schemeClr val="accent6"/>
            </a:solidFill>
            <a:prstDash val="solid"/>
          </a:ln>
        </p:spPr>
      </p:sp>
      <p:sp>
        <p:nvSpPr>
          <p:cNvPr id="7" name="Text 4"/>
          <p:cNvSpPr txBox="1"/>
          <p:nvPr/>
        </p:nvSpPr>
        <p:spPr>
          <a:xfrm>
            <a:off x="5303520" y="12801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5760720" y="1261872"/>
            <a:ext cx="2926080" cy="237744"/>
          </a:xfrm>
          <a:prstGeom prst="rect">
            <a:avLst/>
          </a:prstGeom>
          <a:noFill/>
          <a:ln/>
        </p:spPr>
        <p:txBody>
          <a:bodyPr wrap="square" lIns="0" tIns="0" rIns="0" bIns="0" rtlCol="0" anchor="t"/>
          <a:lstStyle/>
          <a:p>
            <a:pPr indent="0" marL="0">
              <a:buNone/>
            </a:pPr>
            <a:r>
              <a:rPr lang="en-US" sz="1300" b="1" dirty="0">
                <a:solidFill>
                  <a:schemeClr val="tx1"/>
                </a:solidFill>
              </a:rPr>
              <a:t>Source</a:t>
            </a:r>
            <a:endParaRPr lang="en-US" sz="1300" dirty="0"/>
          </a:p>
        </p:txBody>
      </p:sp>
      <p:sp>
        <p:nvSpPr>
          <p:cNvPr id="9" name="Text 6"/>
          <p:cNvSpPr txBox="1"/>
          <p:nvPr/>
        </p:nvSpPr>
        <p:spPr>
          <a:xfrm>
            <a:off x="5760720" y="1499616"/>
            <a:ext cx="2926080" cy="457200"/>
          </a:xfrm>
          <a:prstGeom prst="rect">
            <a:avLst/>
          </a:prstGeom>
          <a:noFill/>
          <a:ln/>
        </p:spPr>
        <p:txBody>
          <a:bodyPr wrap="square" lIns="0" tIns="0" rIns="0" bIns="0" rtlCol="0" anchor="t"/>
          <a:lstStyle/>
          <a:p>
            <a:pPr indent="0" marL="0">
              <a:buNone/>
            </a:pPr>
            <a:r>
              <a:rPr lang="en-US" sz="1100" dirty="0">
                <a:solidFill>
                  <a:schemeClr val="tx2"/>
                </a:solidFill>
              </a:rPr>
              <a:t>the cited file and page must be in the retrieved context</a:t>
            </a:r>
            <a:endParaRPr lang="en-US" sz="1100" dirty="0"/>
          </a:p>
        </p:txBody>
      </p:sp>
      <p:sp>
        <p:nvSpPr>
          <p:cNvPr id="10" name="Shape 7"/>
          <p:cNvSpPr/>
          <p:nvPr/>
        </p:nvSpPr>
        <p:spPr>
          <a:xfrm>
            <a:off x="5303520" y="1993392"/>
            <a:ext cx="329184" cy="329184"/>
          </a:xfrm>
          <a:prstGeom prst="ellipse">
            <a:avLst/>
          </a:prstGeom>
          <a:solidFill>
            <a:schemeClr val="accent6"/>
          </a:solidFill>
          <a:ln w="12700">
            <a:solidFill>
              <a:schemeClr val="accent6"/>
            </a:solidFill>
            <a:prstDash val="solid"/>
          </a:ln>
        </p:spPr>
      </p:sp>
      <p:sp>
        <p:nvSpPr>
          <p:cNvPr id="11" name="Text 8"/>
          <p:cNvSpPr txBox="1"/>
          <p:nvPr/>
        </p:nvSpPr>
        <p:spPr>
          <a:xfrm>
            <a:off x="5303520" y="19933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9"/>
          <p:cNvSpPr txBox="1"/>
          <p:nvPr/>
        </p:nvSpPr>
        <p:spPr>
          <a:xfrm>
            <a:off x="5760720" y="1975104"/>
            <a:ext cx="2926080" cy="237744"/>
          </a:xfrm>
          <a:prstGeom prst="rect">
            <a:avLst/>
          </a:prstGeom>
          <a:noFill/>
          <a:ln/>
        </p:spPr>
        <p:txBody>
          <a:bodyPr wrap="square" lIns="0" tIns="0" rIns="0" bIns="0" rtlCol="0" anchor="t"/>
          <a:lstStyle/>
          <a:p>
            <a:pPr indent="0" marL="0">
              <a:buNone/>
            </a:pPr>
            <a:r>
              <a:rPr lang="en-US" sz="1300" b="1" dirty="0">
                <a:solidFill>
                  <a:schemeClr val="tx1"/>
                </a:solidFill>
              </a:rPr>
              <a:t>Page</a:t>
            </a:r>
            <a:endParaRPr lang="en-US" sz="1300" dirty="0"/>
          </a:p>
        </p:txBody>
      </p:sp>
      <p:sp>
        <p:nvSpPr>
          <p:cNvPr id="13" name="Text 10"/>
          <p:cNvSpPr txBox="1"/>
          <p:nvPr/>
        </p:nvSpPr>
        <p:spPr>
          <a:xfrm>
            <a:off x="5760720" y="2212848"/>
            <a:ext cx="2926080" cy="457200"/>
          </a:xfrm>
          <a:prstGeom prst="rect">
            <a:avLst/>
          </a:prstGeom>
          <a:noFill/>
          <a:ln/>
        </p:spPr>
        <p:txBody>
          <a:bodyPr wrap="square" lIns="0" tIns="0" rIns="0" bIns="0" rtlCol="0" anchor="t"/>
          <a:lstStyle/>
          <a:p>
            <a:pPr indent="0" marL="0">
              <a:buNone/>
            </a:pPr>
            <a:r>
              <a:rPr lang="en-US" sz="1100" dirty="0">
                <a:solidFill>
                  <a:schemeClr val="tx2"/>
                </a:solidFill>
              </a:rPr>
              <a:t>if the claim's words are on another page, the chip shows p.2 → 1</a:t>
            </a:r>
            <a:endParaRPr lang="en-US" sz="1100" dirty="0"/>
          </a:p>
        </p:txBody>
      </p:sp>
      <p:sp>
        <p:nvSpPr>
          <p:cNvPr id="14" name="Shape 11"/>
          <p:cNvSpPr/>
          <p:nvPr/>
        </p:nvSpPr>
        <p:spPr>
          <a:xfrm>
            <a:off x="5303520" y="2706624"/>
            <a:ext cx="329184" cy="329184"/>
          </a:xfrm>
          <a:prstGeom prst="ellipse">
            <a:avLst/>
          </a:prstGeom>
          <a:solidFill>
            <a:schemeClr val="accent6"/>
          </a:solidFill>
          <a:ln w="12700">
            <a:solidFill>
              <a:schemeClr val="accent6"/>
            </a:solidFill>
            <a:prstDash val="solid"/>
          </a:ln>
        </p:spPr>
      </p:sp>
      <p:sp>
        <p:nvSpPr>
          <p:cNvPr id="15" name="Text 12"/>
          <p:cNvSpPr txBox="1"/>
          <p:nvPr/>
        </p:nvSpPr>
        <p:spPr>
          <a:xfrm>
            <a:off x="5303520" y="270662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3"/>
          <p:cNvSpPr txBox="1"/>
          <p:nvPr/>
        </p:nvSpPr>
        <p:spPr>
          <a:xfrm>
            <a:off x="5760720" y="2688336"/>
            <a:ext cx="2926080" cy="237744"/>
          </a:xfrm>
          <a:prstGeom prst="rect">
            <a:avLst/>
          </a:prstGeom>
          <a:noFill/>
          <a:ln/>
        </p:spPr>
        <p:txBody>
          <a:bodyPr wrap="square" lIns="0" tIns="0" rIns="0" bIns="0" rtlCol="0" anchor="t"/>
          <a:lstStyle/>
          <a:p>
            <a:pPr indent="0" marL="0">
              <a:buNone/>
            </a:pPr>
            <a:r>
              <a:rPr lang="en-US" sz="1300" b="1" dirty="0">
                <a:solidFill>
                  <a:schemeClr val="tx1"/>
                </a:solidFill>
              </a:rPr>
              <a:t>Highlight</a:t>
            </a:r>
            <a:endParaRPr lang="en-US" sz="1300" dirty="0"/>
          </a:p>
        </p:txBody>
      </p:sp>
      <p:sp>
        <p:nvSpPr>
          <p:cNvPr id="17" name="Text 14"/>
          <p:cNvSpPr txBox="1"/>
          <p:nvPr/>
        </p:nvSpPr>
        <p:spPr>
          <a:xfrm>
            <a:off x="5760720" y="2926080"/>
            <a:ext cx="2926080" cy="457200"/>
          </a:xfrm>
          <a:prstGeom prst="rect">
            <a:avLst/>
          </a:prstGeom>
          <a:noFill/>
          <a:ln/>
        </p:spPr>
        <p:txBody>
          <a:bodyPr wrap="square" lIns="0" tIns="0" rIns="0" bIns="0" rtlCol="0" anchor="t"/>
          <a:lstStyle/>
          <a:p>
            <a:pPr indent="0" marL="0">
              <a:buNone/>
            </a:pPr>
            <a:r>
              <a:rPr lang="en-US" sz="1100" dirty="0">
                <a:solidFill>
                  <a:schemeClr val="tx2"/>
                </a:solidFill>
              </a:rPr>
              <a:t>the viewer opens on the single paragraph that matches the claim</a:t>
            </a:r>
            <a:endParaRPr lang="en-US" sz="1100" dirty="0"/>
          </a:p>
        </p:txBody>
      </p:sp>
      <p:sp>
        <p:nvSpPr>
          <p:cNvPr id="18" name="Shape 15"/>
          <p:cNvSpPr/>
          <p:nvPr/>
        </p:nvSpPr>
        <p:spPr>
          <a:xfrm>
            <a:off x="5303520" y="3419856"/>
            <a:ext cx="329184" cy="329184"/>
          </a:xfrm>
          <a:prstGeom prst="ellipse">
            <a:avLst/>
          </a:prstGeom>
          <a:solidFill>
            <a:schemeClr val="accent6"/>
          </a:solidFill>
          <a:ln w="12700">
            <a:solidFill>
              <a:schemeClr val="accent6"/>
            </a:solidFill>
            <a:prstDash val="solid"/>
          </a:ln>
        </p:spPr>
      </p:sp>
      <p:sp>
        <p:nvSpPr>
          <p:cNvPr id="19" name="Text 16"/>
          <p:cNvSpPr txBox="1"/>
          <p:nvPr/>
        </p:nvSpPr>
        <p:spPr>
          <a:xfrm>
            <a:off x="5303520" y="341985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Text 17"/>
          <p:cNvSpPr txBox="1"/>
          <p:nvPr/>
        </p:nvSpPr>
        <p:spPr>
          <a:xfrm>
            <a:off x="5760720" y="3401568"/>
            <a:ext cx="2926080" cy="237744"/>
          </a:xfrm>
          <a:prstGeom prst="rect">
            <a:avLst/>
          </a:prstGeom>
          <a:noFill/>
          <a:ln/>
        </p:spPr>
        <p:txBody>
          <a:bodyPr wrap="square" lIns="0" tIns="0" rIns="0" bIns="0" rtlCol="0" anchor="t"/>
          <a:lstStyle/>
          <a:p>
            <a:pPr indent="0" marL="0">
              <a:buNone/>
            </a:pPr>
            <a:r>
              <a:rPr lang="en-US" sz="1300" b="1" dirty="0">
                <a:solidFill>
                  <a:schemeClr val="tx1"/>
                </a:solidFill>
              </a:rPr>
              <a:t>Completion</a:t>
            </a:r>
            <a:endParaRPr lang="en-US" sz="1300" dirty="0"/>
          </a:p>
        </p:txBody>
      </p:sp>
      <p:sp>
        <p:nvSpPr>
          <p:cNvPr id="21" name="Text 18"/>
          <p:cNvSpPr txBox="1"/>
          <p:nvPr/>
        </p:nvSpPr>
        <p:spPr>
          <a:xfrm>
            <a:off x="5760720" y="3639312"/>
            <a:ext cx="2926080" cy="457200"/>
          </a:xfrm>
          <a:prstGeom prst="rect">
            <a:avLst/>
          </a:prstGeom>
          <a:noFill/>
          <a:ln/>
        </p:spPr>
        <p:txBody>
          <a:bodyPr wrap="square" lIns="0" tIns="0" rIns="0" bIns="0" rtlCol="0" anchor="t"/>
          <a:lstStyle/>
          <a:p>
            <a:pPr indent="0" marL="0">
              <a:buNone/>
            </a:pPr>
            <a:r>
              <a:rPr lang="en-US" sz="1100" dirty="0">
                <a:solidFill>
                  <a:schemeClr val="tx2"/>
                </a:solidFill>
              </a:rPr>
              <a:t>uncited but supported sentences get an auto citation; the rest are flagged as unsupported</a:t>
            </a:r>
            <a:endParaRPr lang="en-US" sz="1100" dirty="0"/>
          </a:p>
        </p:txBody>
      </p:sp>
      <p:sp>
        <p:nvSpPr>
          <p:cNvPr id="22" name="Shape 19"/>
          <p:cNvSpPr/>
          <p:nvPr/>
        </p:nvSpPr>
        <p:spPr>
          <a:xfrm>
            <a:off x="5303520" y="4160520"/>
            <a:ext cx="3383280" cy="502920"/>
          </a:xfrm>
          <a:prstGeom prst="roundRect">
            <a:avLst>
              <a:gd name="adj" fmla="val 14545"/>
            </a:avLst>
          </a:prstGeom>
          <a:solidFill>
            <a:srgbClr val="D1FAE5"/>
          </a:solidFill>
          <a:ln w="9525">
            <a:solidFill>
              <a:srgbClr val="D1FAE5"/>
            </a:solidFill>
            <a:prstDash val="solid"/>
          </a:ln>
        </p:spPr>
      </p:sp>
      <p:sp>
        <p:nvSpPr>
          <p:cNvPr id="23" name="Text 20"/>
          <p:cNvSpPr txBox="1"/>
          <p:nvPr/>
        </p:nvSpPr>
        <p:spPr>
          <a:xfrm>
            <a:off x="5440680" y="4224528"/>
            <a:ext cx="3154680" cy="384048"/>
          </a:xfrm>
          <a:prstGeom prst="rect">
            <a:avLst/>
          </a:prstGeom>
          <a:noFill/>
          <a:ln/>
        </p:spPr>
        <p:txBody>
          <a:bodyPr wrap="square" lIns="0" tIns="0" rIns="0" bIns="0" rtlCol="0" anchor="ctr"/>
          <a:lstStyle/>
          <a:p>
            <a:pPr indent="0" marL="0">
              <a:buNone/>
            </a:pPr>
            <a:r>
              <a:rPr lang="en-US" sz="1150" b="1" dirty="0">
                <a:solidFill>
                  <a:srgbClr val="065F46"/>
                </a:solidFill>
              </a:rPr>
              <a:t>Sentences with a verified citation (Qwen 2.5 7B): 29% → 100%</a:t>
            </a:r>
            <a:endParaRPr lang="en-US" sz="115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ADAPTIVE QUIZ</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Every question is repaired and validated first</a:t>
            </a:r>
            <a:endParaRPr lang="en-US" sz="2600" dirty="0"/>
          </a:p>
        </p:txBody>
      </p:sp>
      <p:sp>
        <p:nvSpPr>
          <p:cNvPr id="4" name="Shape 2"/>
          <p:cNvSpPr/>
          <p:nvPr/>
        </p:nvSpPr>
        <p:spPr>
          <a:xfrm>
            <a:off x="457200" y="1280160"/>
            <a:ext cx="411480" cy="411480"/>
          </a:xfrm>
          <a:prstGeom prst="ellipse">
            <a:avLst/>
          </a:prstGeom>
          <a:solidFill>
            <a:srgbClr val="7C3AED"/>
          </a:solidFill>
          <a:ln w="12700">
            <a:solidFill>
              <a:srgbClr val="7C3AED"/>
            </a:solidFill>
            <a:prstDash val="solid"/>
          </a:ln>
        </p:spPr>
      </p:sp>
      <p:pic>
        <p:nvPicPr>
          <p:cNvPr id="5" name="Image 0" descr="preencoded.png">    </p:cNvPr>
          <p:cNvPicPr>
            <a:picLocks noChangeAspect="1"/>
          </p:cNvPicPr>
          <p:nvPr/>
        </p:nvPicPr>
        <p:blipFill>
          <a:blip r:embed="rId1"/>
          <a:stretch>
            <a:fillRect/>
          </a:stretch>
        </p:blipFill>
        <p:spPr>
          <a:xfrm>
            <a:off x="555955" y="1378915"/>
            <a:ext cx="213970" cy="213970"/>
          </a:xfrm>
          <a:prstGeom prst="rect">
            <a:avLst/>
          </a:prstGeom>
        </p:spPr>
      </p:pic>
      <p:sp>
        <p:nvSpPr>
          <p:cNvPr id="6" name="Text 3"/>
          <p:cNvSpPr txBox="1"/>
          <p:nvPr/>
        </p:nvSpPr>
        <p:spPr>
          <a:xfrm>
            <a:off x="1005840" y="1261872"/>
            <a:ext cx="3017520" cy="246888"/>
          </a:xfrm>
          <a:prstGeom prst="rect">
            <a:avLst/>
          </a:prstGeom>
          <a:noFill/>
          <a:ln/>
        </p:spPr>
        <p:txBody>
          <a:bodyPr wrap="square" lIns="0" tIns="0" rIns="0" bIns="0" rtlCol="0" anchor="t"/>
          <a:lstStyle/>
          <a:p>
            <a:pPr indent="0" marL="0">
              <a:buNone/>
            </a:pPr>
            <a:r>
              <a:rPr lang="en-US" sz="1400" b="1" dirty="0">
                <a:solidFill>
                  <a:schemeClr val="tx1"/>
                </a:solidFill>
              </a:rPr>
              <a:t>Pick sections</a:t>
            </a:r>
            <a:endParaRPr lang="en-US" sz="1400" dirty="0"/>
          </a:p>
        </p:txBody>
      </p:sp>
      <p:sp>
        <p:nvSpPr>
          <p:cNvPr id="7" name="Text 4"/>
          <p:cNvSpPr txBox="1"/>
          <p:nvPr/>
        </p:nvSpPr>
        <p:spPr>
          <a:xfrm>
            <a:off x="1005840" y="1517904"/>
            <a:ext cx="3017520" cy="502920"/>
          </a:xfrm>
          <a:prstGeom prst="rect">
            <a:avLst/>
          </a:prstGeom>
          <a:noFill/>
          <a:ln/>
        </p:spPr>
        <p:txBody>
          <a:bodyPr wrap="square" lIns="0" tIns="0" rIns="0" bIns="0" rtlCol="0" anchor="t"/>
          <a:lstStyle/>
          <a:p>
            <a:pPr indent="0" marL="0">
              <a:buNone/>
            </a:pPr>
            <a:r>
              <a:rPr lang="en-US" sz="1100" dirty="0">
                <a:solidFill>
                  <a:schemeClr val="tx2"/>
                </a:solidFill>
              </a:rPr>
              <a:t>70% weighted toward weak sections, 30% by relevance</a:t>
            </a:r>
            <a:endParaRPr lang="en-US" sz="1100" dirty="0"/>
          </a:p>
        </p:txBody>
      </p:sp>
      <p:sp>
        <p:nvSpPr>
          <p:cNvPr id="8" name="Shape 5"/>
          <p:cNvSpPr/>
          <p:nvPr/>
        </p:nvSpPr>
        <p:spPr>
          <a:xfrm>
            <a:off x="457200" y="2084832"/>
            <a:ext cx="411480" cy="411480"/>
          </a:xfrm>
          <a:prstGeom prst="ellipse">
            <a:avLst/>
          </a:prstGeom>
          <a:solidFill>
            <a:srgbClr val="7C3AED"/>
          </a:solidFill>
          <a:ln w="12700">
            <a:solidFill>
              <a:srgbClr val="7C3AED"/>
            </a:solidFill>
            <a:prstDash val="solid"/>
          </a:ln>
        </p:spPr>
      </p:sp>
      <p:pic>
        <p:nvPicPr>
          <p:cNvPr id="9" name="Image 1" descr="preencoded.png">    </p:cNvPr>
          <p:cNvPicPr>
            <a:picLocks noChangeAspect="1"/>
          </p:cNvPicPr>
          <p:nvPr/>
        </p:nvPicPr>
        <p:blipFill>
          <a:blip r:embed="rId2"/>
          <a:stretch>
            <a:fillRect/>
          </a:stretch>
        </p:blipFill>
        <p:spPr>
          <a:xfrm>
            <a:off x="555955" y="2183587"/>
            <a:ext cx="213970" cy="213970"/>
          </a:xfrm>
          <a:prstGeom prst="rect">
            <a:avLst/>
          </a:prstGeom>
        </p:spPr>
      </p:pic>
      <p:sp>
        <p:nvSpPr>
          <p:cNvPr id="10" name="Text 6"/>
          <p:cNvSpPr txBox="1"/>
          <p:nvPr/>
        </p:nvSpPr>
        <p:spPr>
          <a:xfrm>
            <a:off x="1005840" y="2066544"/>
            <a:ext cx="3017520" cy="246888"/>
          </a:xfrm>
          <a:prstGeom prst="rect">
            <a:avLst/>
          </a:prstGeom>
          <a:noFill/>
          <a:ln/>
        </p:spPr>
        <p:txBody>
          <a:bodyPr wrap="square" lIns="0" tIns="0" rIns="0" bIns="0" rtlCol="0" anchor="t"/>
          <a:lstStyle/>
          <a:p>
            <a:pPr indent="0" marL="0">
              <a:buNone/>
            </a:pPr>
            <a:r>
              <a:rPr lang="en-US" sz="1400" b="1" dirty="0">
                <a:solidFill>
                  <a:schemeClr val="tx1"/>
                </a:solidFill>
              </a:rPr>
              <a:t>Number the evidence</a:t>
            </a:r>
            <a:endParaRPr lang="en-US" sz="1400" dirty="0"/>
          </a:p>
        </p:txBody>
      </p:sp>
      <p:sp>
        <p:nvSpPr>
          <p:cNvPr id="11" name="Text 7"/>
          <p:cNvSpPr txBox="1"/>
          <p:nvPr/>
        </p:nvSpPr>
        <p:spPr>
          <a:xfrm>
            <a:off x="1005840" y="2322576"/>
            <a:ext cx="3017520" cy="502920"/>
          </a:xfrm>
          <a:prstGeom prst="rect">
            <a:avLst/>
          </a:prstGeom>
          <a:noFill/>
          <a:ln/>
        </p:spPr>
        <p:txBody>
          <a:bodyPr wrap="square" lIns="0" tIns="0" rIns="0" bIns="0" rtlCol="0" anchor="t"/>
          <a:lstStyle/>
          <a:p>
            <a:pPr indent="0" marL="0">
              <a:buNone/>
            </a:pPr>
            <a:r>
              <a:rPr lang="en-US" sz="1100" dirty="0">
                <a:solidFill>
                  <a:schemeClr val="tx2"/>
                </a:solidFill>
              </a:rPr>
              <a:t>notes shown as [S1], [S2]… so Qwen cites sentence ids, not a retyped quote</a:t>
            </a:r>
            <a:endParaRPr lang="en-US" sz="1100" dirty="0"/>
          </a:p>
        </p:txBody>
      </p:sp>
      <p:sp>
        <p:nvSpPr>
          <p:cNvPr id="12" name="Shape 8"/>
          <p:cNvSpPr/>
          <p:nvPr/>
        </p:nvSpPr>
        <p:spPr>
          <a:xfrm>
            <a:off x="457200" y="2889504"/>
            <a:ext cx="411480" cy="411480"/>
          </a:xfrm>
          <a:prstGeom prst="ellipse">
            <a:avLst/>
          </a:prstGeom>
          <a:solidFill>
            <a:srgbClr val="7C3AED"/>
          </a:solidFill>
          <a:ln w="12700">
            <a:solidFill>
              <a:srgbClr val="7C3AED"/>
            </a:solidFill>
            <a:prstDash val="solid"/>
          </a:ln>
        </p:spPr>
      </p:sp>
      <p:pic>
        <p:nvPicPr>
          <p:cNvPr id="13" name="Image 2" descr="preencoded.png">    </p:cNvPr>
          <p:cNvPicPr>
            <a:picLocks noChangeAspect="1"/>
          </p:cNvPicPr>
          <p:nvPr/>
        </p:nvPicPr>
        <p:blipFill>
          <a:blip r:embed="rId3"/>
          <a:stretch>
            <a:fillRect/>
          </a:stretch>
        </p:blipFill>
        <p:spPr>
          <a:xfrm>
            <a:off x="555955" y="2988259"/>
            <a:ext cx="213970" cy="213970"/>
          </a:xfrm>
          <a:prstGeom prst="rect">
            <a:avLst/>
          </a:prstGeom>
        </p:spPr>
      </p:pic>
      <p:sp>
        <p:nvSpPr>
          <p:cNvPr id="14" name="Text 9"/>
          <p:cNvSpPr txBox="1"/>
          <p:nvPr/>
        </p:nvSpPr>
        <p:spPr>
          <a:xfrm>
            <a:off x="1005840" y="2871216"/>
            <a:ext cx="3017520" cy="246888"/>
          </a:xfrm>
          <a:prstGeom prst="rect">
            <a:avLst/>
          </a:prstGeom>
          <a:noFill/>
          <a:ln/>
        </p:spPr>
        <p:txBody>
          <a:bodyPr wrap="square" lIns="0" tIns="0" rIns="0" bIns="0" rtlCol="0" anchor="t"/>
          <a:lstStyle/>
          <a:p>
            <a:pPr indent="0" marL="0">
              <a:buNone/>
            </a:pPr>
            <a:r>
              <a:rPr lang="en-US" sz="1400" b="1" dirty="0">
                <a:solidFill>
                  <a:schemeClr val="tx1"/>
                </a:solidFill>
              </a:rPr>
              <a:t>Generate to a schema</a:t>
            </a:r>
            <a:endParaRPr lang="en-US" sz="1400" dirty="0"/>
          </a:p>
        </p:txBody>
      </p:sp>
      <p:sp>
        <p:nvSpPr>
          <p:cNvPr id="15" name="Text 10"/>
          <p:cNvSpPr txBox="1"/>
          <p:nvPr/>
        </p:nvSpPr>
        <p:spPr>
          <a:xfrm>
            <a:off x="1005840" y="3127248"/>
            <a:ext cx="3017520" cy="502920"/>
          </a:xfrm>
          <a:prstGeom prst="rect">
            <a:avLst/>
          </a:prstGeom>
          <a:noFill/>
          <a:ln/>
        </p:spPr>
        <p:txBody>
          <a:bodyPr wrap="square" lIns="0" tIns="0" rIns="0" bIns="0" rtlCol="0" anchor="t"/>
          <a:lstStyle/>
          <a:p>
            <a:pPr indent="0" marL="0">
              <a:buNone/>
            </a:pPr>
            <a:r>
              <a:rPr lang="en-US" sz="1100" dirty="0">
                <a:solidFill>
                  <a:schemeClr val="tx2"/>
                </a:solidFill>
              </a:rPr>
              <a:t>4 options; each distractor labelled sign inversion, boundary violation or terminology swap</a:t>
            </a:r>
            <a:endParaRPr lang="en-US" sz="1100" dirty="0"/>
          </a:p>
        </p:txBody>
      </p:sp>
      <p:sp>
        <p:nvSpPr>
          <p:cNvPr id="16" name="Shape 11"/>
          <p:cNvSpPr/>
          <p:nvPr/>
        </p:nvSpPr>
        <p:spPr>
          <a:xfrm>
            <a:off x="457200" y="3694176"/>
            <a:ext cx="411480" cy="411480"/>
          </a:xfrm>
          <a:prstGeom prst="ellipse">
            <a:avLst/>
          </a:prstGeom>
          <a:solidFill>
            <a:srgbClr val="7C3AED"/>
          </a:solidFill>
          <a:ln w="12700">
            <a:solidFill>
              <a:srgbClr val="7C3AED"/>
            </a:solidFill>
            <a:prstDash val="solid"/>
          </a:ln>
        </p:spPr>
      </p:sp>
      <p:pic>
        <p:nvPicPr>
          <p:cNvPr id="17" name="Image 3" descr="preencoded.png">    </p:cNvPr>
          <p:cNvPicPr>
            <a:picLocks noChangeAspect="1"/>
          </p:cNvPicPr>
          <p:nvPr/>
        </p:nvPicPr>
        <p:blipFill>
          <a:blip r:embed="rId4"/>
          <a:stretch>
            <a:fillRect/>
          </a:stretch>
        </p:blipFill>
        <p:spPr>
          <a:xfrm>
            <a:off x="555955" y="3792931"/>
            <a:ext cx="213970" cy="213970"/>
          </a:xfrm>
          <a:prstGeom prst="rect">
            <a:avLst/>
          </a:prstGeom>
        </p:spPr>
      </p:pic>
      <p:sp>
        <p:nvSpPr>
          <p:cNvPr id="18" name="Text 12"/>
          <p:cNvSpPr txBox="1"/>
          <p:nvPr/>
        </p:nvSpPr>
        <p:spPr>
          <a:xfrm>
            <a:off x="1005840" y="3675888"/>
            <a:ext cx="3017520" cy="246888"/>
          </a:xfrm>
          <a:prstGeom prst="rect">
            <a:avLst/>
          </a:prstGeom>
          <a:noFill/>
          <a:ln/>
        </p:spPr>
        <p:txBody>
          <a:bodyPr wrap="square" lIns="0" tIns="0" rIns="0" bIns="0" rtlCol="0" anchor="t"/>
          <a:lstStyle/>
          <a:p>
            <a:pPr indent="0" marL="0">
              <a:buNone/>
            </a:pPr>
            <a:r>
              <a:rPr lang="en-US" sz="1400" b="1" dirty="0">
                <a:solidFill>
                  <a:schemeClr val="tx1"/>
                </a:solidFill>
              </a:rPr>
              <a:t>Repair and validate</a:t>
            </a:r>
            <a:endParaRPr lang="en-US" sz="1400" dirty="0"/>
          </a:p>
        </p:txBody>
      </p:sp>
      <p:sp>
        <p:nvSpPr>
          <p:cNvPr id="19" name="Text 13"/>
          <p:cNvSpPr txBox="1"/>
          <p:nvPr/>
        </p:nvSpPr>
        <p:spPr>
          <a:xfrm>
            <a:off x="1005840" y="3931920"/>
            <a:ext cx="3017520" cy="502920"/>
          </a:xfrm>
          <a:prstGeom prst="rect">
            <a:avLst/>
          </a:prstGeom>
          <a:noFill/>
          <a:ln/>
        </p:spPr>
        <p:txBody>
          <a:bodyPr wrap="square" lIns="0" tIns="0" rIns="0" bIns="0" rtlCol="0" anchor="t"/>
          <a:lstStyle/>
          <a:p>
            <a:pPr indent="0" marL="0">
              <a:buNone/>
            </a:pPr>
            <a:r>
              <a:rPr lang="en-US" sz="1100" dirty="0">
                <a:solidFill>
                  <a:schemeClr val="tx2"/>
                </a:solidFill>
              </a:rPr>
              <a:t>fix label slips; reject if not exactly one correct, bad LaTeX, or unsupported evidence</a:t>
            </a:r>
            <a:endParaRPr lang="en-US" sz="1100" dirty="0"/>
          </a:p>
        </p:txBody>
      </p:sp>
      <p:pic>
        <p:nvPicPr>
          <p:cNvPr id="20" name="Image 4" descr="ui_quiz_feedback.png">    </p:cNvPr>
          <p:cNvPicPr>
            <a:picLocks noChangeAspect="1"/>
          </p:cNvPicPr>
          <p:nvPr/>
        </p:nvPicPr>
        <p:blipFill>
          <a:blip r:embed="rId5"/>
          <a:stretch>
            <a:fillRect/>
          </a:stretch>
        </p:blipFill>
        <p:spPr>
          <a:xfrm>
            <a:off x="4206240" y="1280160"/>
            <a:ext cx="4480560" cy="2800350"/>
          </a:xfrm>
          <a:prstGeom prst="rect">
            <a:avLst/>
          </a:prstGeom>
        </p:spPr>
      </p:pic>
      <p:sp>
        <p:nvSpPr>
          <p:cNvPr id="21" name="Shape 14"/>
          <p:cNvSpPr/>
          <p:nvPr/>
        </p:nvSpPr>
        <p:spPr>
          <a:xfrm>
            <a:off x="4206240" y="1280160"/>
            <a:ext cx="4480560" cy="2800350"/>
          </a:xfrm>
          <a:prstGeom prst="rect">
            <a:avLst/>
          </a:prstGeom>
          <a:ln w="9525">
            <a:solidFill>
              <a:srgbClr val="CBD5E1"/>
            </a:solidFill>
            <a:prstDash val="solid"/>
          </a:ln>
        </p:spPr>
      </p:sp>
      <p:sp>
        <p:nvSpPr>
          <p:cNvPr id="22" name="Text 15"/>
          <p:cNvSpPr txBox="1"/>
          <p:nvPr/>
        </p:nvSpPr>
        <p:spPr>
          <a:xfrm>
            <a:off x="4206240" y="4160520"/>
            <a:ext cx="4480560" cy="457200"/>
          </a:xfrm>
          <a:prstGeom prst="rect">
            <a:avLst/>
          </a:prstGeom>
          <a:noFill/>
          <a:ln/>
        </p:spPr>
        <p:txBody>
          <a:bodyPr wrap="square" lIns="0" tIns="0" rIns="0" bIns="0" rtlCol="0" anchor="t"/>
          <a:lstStyle/>
          <a:p>
            <a:pPr indent="0" marL="0">
              <a:buNone/>
            </a:pPr>
            <a:r>
              <a:rPr lang="en-US" sz="1100" i="1" dirty="0">
                <a:solidFill>
                  <a:schemeClr val="tx2"/>
                </a:solidFill>
              </a:rPr>
              <a:t>Questions passing validation: 33% with free-text quotes → 67% with evidence ids → 100% (9 of 9) with repair</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ADAPTIVE PRACTICE</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Weak sections come back far more often</a:t>
            </a:r>
            <a:endParaRPr lang="en-US" sz="2600" dirty="0"/>
          </a:p>
        </p:txBody>
      </p:sp>
      <p:sp>
        <p:nvSpPr>
          <p:cNvPr id="4" name="Shape 2"/>
          <p:cNvSpPr/>
          <p:nvPr/>
        </p:nvSpPr>
        <p:spPr>
          <a:xfrm>
            <a:off x="457200" y="1280160"/>
            <a:ext cx="3749040" cy="1325880"/>
          </a:xfrm>
          <a:prstGeom prst="roundRect">
            <a:avLst>
              <a:gd name="adj" fmla="val 5517"/>
            </a:avLst>
          </a:prstGeom>
          <a:solidFill>
            <a:schemeClr val="bg2"/>
          </a:solidFill>
          <a:ln w="9525">
            <a:solidFill>
              <a:schemeClr val="bg2"/>
            </a:solidFill>
            <a:prstDash val="solid"/>
          </a:ln>
        </p:spPr>
      </p:sp>
      <p:sp>
        <p:nvSpPr>
          <p:cNvPr id="5" name="Text 3"/>
          <p:cNvSpPr txBox="1"/>
          <p:nvPr/>
        </p:nvSpPr>
        <p:spPr>
          <a:xfrm>
            <a:off x="640080" y="1389888"/>
            <a:ext cx="3383280" cy="228600"/>
          </a:xfrm>
          <a:prstGeom prst="rect">
            <a:avLst/>
          </a:prstGeom>
          <a:noFill/>
          <a:ln/>
        </p:spPr>
        <p:txBody>
          <a:bodyPr wrap="square" lIns="0" tIns="0" rIns="0" bIns="0" rtlCol="0" anchor="t"/>
          <a:lstStyle/>
          <a:p>
            <a:pPr indent="0" marL="0">
              <a:buNone/>
            </a:pPr>
            <a:r>
              <a:rPr lang="en-US" sz="1200" b="1" dirty="0">
                <a:solidFill>
                  <a:schemeClr val="tx2"/>
                </a:solidFill>
              </a:rPr>
              <a:t>After each first attempt</a:t>
            </a:r>
            <a:endParaRPr lang="en-US" sz="1200" dirty="0"/>
          </a:p>
        </p:txBody>
      </p:sp>
      <p:sp>
        <p:nvSpPr>
          <p:cNvPr id="6" name="Text 4"/>
          <p:cNvSpPr txBox="1"/>
          <p:nvPr/>
        </p:nvSpPr>
        <p:spPr>
          <a:xfrm>
            <a:off x="640080" y="1691640"/>
            <a:ext cx="3383280" cy="411480"/>
          </a:xfrm>
          <a:prstGeom prst="rect">
            <a:avLst/>
          </a:prstGeom>
          <a:noFill/>
          <a:ln/>
        </p:spPr>
        <p:txBody>
          <a:bodyPr wrap="square" lIns="0" tIns="0" rIns="0" bIns="0" rtlCol="0" anchor="t"/>
          <a:lstStyle/>
          <a:p>
            <a:pPr indent="0" marL="0">
              <a:buNone/>
            </a:pPr>
            <a:r>
              <a:rPr lang="en-US" sz="1800" i="1" dirty="0">
                <a:solidFill>
                  <a:schemeClr val="accent1"/>
                </a:solidFill>
                <a:latin typeface="Cambria" pitchFamily="34" charset="0"/>
                <a:ea typeface="Cambria" pitchFamily="34" charset="-122"/>
                <a:cs typeface="Cambria" pitchFamily="34" charset="-120"/>
              </a:rPr>
              <a:t>M ← clip(M + α(S − M), 0, 1)</a:t>
            </a:r>
            <a:endParaRPr lang="en-US" sz="1800" dirty="0"/>
          </a:p>
        </p:txBody>
      </p:sp>
      <p:sp>
        <p:nvSpPr>
          <p:cNvPr id="7" name="Text 5"/>
          <p:cNvSpPr txBox="1"/>
          <p:nvPr/>
        </p:nvSpPr>
        <p:spPr>
          <a:xfrm>
            <a:off x="640080" y="2176272"/>
            <a:ext cx="3383280" cy="320040"/>
          </a:xfrm>
          <a:prstGeom prst="rect">
            <a:avLst/>
          </a:prstGeom>
          <a:noFill/>
          <a:ln/>
        </p:spPr>
        <p:txBody>
          <a:bodyPr wrap="square" lIns="0" tIns="0" rIns="0" bIns="0" rtlCol="0" anchor="t"/>
          <a:lstStyle/>
          <a:p>
            <a:pPr indent="0" marL="0">
              <a:buNone/>
            </a:pPr>
            <a:r>
              <a:rPr lang="en-US" sz="1100" dirty="0">
                <a:solidFill>
                  <a:schemeClr val="tx2"/>
                </a:solidFill>
              </a:rPr>
              <a:t>S = 1 if correct, 0 if not · α = 0.25 · M starts at 0.5</a:t>
            </a:r>
            <a:endParaRPr lang="en-US" sz="1100" dirty="0"/>
          </a:p>
        </p:txBody>
      </p:sp>
      <p:sp>
        <p:nvSpPr>
          <p:cNvPr id="8" name="Shape 6"/>
          <p:cNvSpPr/>
          <p:nvPr/>
        </p:nvSpPr>
        <p:spPr>
          <a:xfrm>
            <a:off x="457200" y="2788920"/>
            <a:ext cx="3749040" cy="1325880"/>
          </a:xfrm>
          <a:prstGeom prst="roundRect">
            <a:avLst>
              <a:gd name="adj" fmla="val 5517"/>
            </a:avLst>
          </a:prstGeom>
          <a:solidFill>
            <a:schemeClr val="bg2"/>
          </a:solidFill>
          <a:ln w="9525">
            <a:solidFill>
              <a:schemeClr val="bg2"/>
            </a:solidFill>
            <a:prstDash val="solid"/>
          </a:ln>
        </p:spPr>
      </p:sp>
      <p:sp>
        <p:nvSpPr>
          <p:cNvPr id="9" name="Text 7"/>
          <p:cNvSpPr txBox="1"/>
          <p:nvPr/>
        </p:nvSpPr>
        <p:spPr>
          <a:xfrm>
            <a:off x="640080" y="2898648"/>
            <a:ext cx="3383280" cy="228600"/>
          </a:xfrm>
          <a:prstGeom prst="rect">
            <a:avLst/>
          </a:prstGeom>
          <a:noFill/>
          <a:ln/>
        </p:spPr>
        <p:txBody>
          <a:bodyPr wrap="square" lIns="0" tIns="0" rIns="0" bIns="0" rtlCol="0" anchor="t"/>
          <a:lstStyle/>
          <a:p>
            <a:pPr indent="0" marL="0">
              <a:buNone/>
            </a:pPr>
            <a:r>
              <a:rPr lang="en-US" sz="1200" b="1" dirty="0">
                <a:solidFill>
                  <a:schemeClr val="tx2"/>
                </a:solidFill>
              </a:rPr>
              <a:t>Choosing the next quiz's sections</a:t>
            </a:r>
            <a:endParaRPr lang="en-US" sz="1200" dirty="0"/>
          </a:p>
        </p:txBody>
      </p:sp>
      <p:sp>
        <p:nvSpPr>
          <p:cNvPr id="10" name="Text 8"/>
          <p:cNvSpPr txBox="1"/>
          <p:nvPr/>
        </p:nvSpPr>
        <p:spPr>
          <a:xfrm>
            <a:off x="640080" y="3200400"/>
            <a:ext cx="3383280" cy="411480"/>
          </a:xfrm>
          <a:prstGeom prst="rect">
            <a:avLst/>
          </a:prstGeom>
          <a:noFill/>
          <a:ln/>
        </p:spPr>
        <p:txBody>
          <a:bodyPr wrap="square" lIns="0" tIns="0" rIns="0" bIns="0" rtlCol="0" anchor="t"/>
          <a:lstStyle/>
          <a:p>
            <a:pPr indent="0" marL="0">
              <a:buNone/>
            </a:pPr>
            <a:r>
              <a:rPr lang="en-US" sz="1800" i="1" dirty="0">
                <a:solidFill>
                  <a:schemeClr val="accent1"/>
                </a:solidFill>
                <a:latin typeface="Cambria" pitchFamily="34" charset="0"/>
                <a:ea typeface="Cambria" pitchFamily="34" charset="-122"/>
                <a:cs typeface="Cambria" pitchFamily="34" charset="-120"/>
              </a:rPr>
              <a:t>P(section c) ∝ (1.05 − M꜀)²</a:t>
            </a:r>
            <a:endParaRPr lang="en-US" sz="1800" dirty="0"/>
          </a:p>
        </p:txBody>
      </p:sp>
      <p:sp>
        <p:nvSpPr>
          <p:cNvPr id="11" name="Text 9"/>
          <p:cNvSpPr txBox="1"/>
          <p:nvPr/>
        </p:nvSpPr>
        <p:spPr>
          <a:xfrm>
            <a:off x="640080" y="3685032"/>
            <a:ext cx="3383280" cy="320040"/>
          </a:xfrm>
          <a:prstGeom prst="rect">
            <a:avLst/>
          </a:prstGeom>
          <a:noFill/>
          <a:ln/>
        </p:spPr>
        <p:txBody>
          <a:bodyPr wrap="square" lIns="0" tIns="0" rIns="0" bIns="0" rtlCol="0" anchor="t"/>
          <a:lstStyle/>
          <a:p>
            <a:pPr indent="0" marL="0">
              <a:buNone/>
            </a:pPr>
            <a:r>
              <a:rPr lang="en-US" sz="1100" dirty="0">
                <a:solidFill>
                  <a:schemeClr val="tx2"/>
                </a:solidFill>
              </a:rPr>
              <a:t>for 70% of slots; the other 30% keep coverage</a:t>
            </a:r>
            <a:endParaRPr lang="en-US" sz="1100" dirty="0"/>
          </a:p>
        </p:txBody>
      </p:sp>
      <p:graphicFrame>
        <p:nvGraphicFramePr>
          <p:cNvPr id="12" name="Chart 0" descr=""/>
          <p:cNvGraphicFramePr/>
          <p:nvPr/>
        </p:nvGraphicFramePr>
        <p:xfrm>
          <a:off x="4480560" y="1234440"/>
          <a:ext cx="4206240" cy="301752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480560" y="4297680"/>
            <a:ext cx="4206240" cy="274320"/>
          </a:xfrm>
          <a:prstGeom prst="rect">
            <a:avLst/>
          </a:prstGeom>
          <a:noFill/>
          <a:ln/>
        </p:spPr>
        <p:txBody>
          <a:bodyPr wrap="square" lIns="0" tIns="0" rIns="0" bIns="0" rtlCol="0" anchor="t"/>
          <a:lstStyle/>
          <a:p>
            <a:pPr indent="0" marL="0">
              <a:buNone/>
            </a:pPr>
            <a:r>
              <a:rPr lang="en-US" sz="1100" i="1" dirty="0">
                <a:solidFill>
                  <a:schemeClr val="tx2"/>
                </a:solidFill>
              </a:rPr>
              <a:t>A section at 10% mastery is picked about 40× more often than one at 90%.</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RESULTS</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Right lecture section found for 10 of 10 questions</a:t>
            </a:r>
            <a:endParaRPr lang="en-US" sz="2600" dirty="0"/>
          </a:p>
        </p:txBody>
      </p:sp>
      <p:graphicFrame>
        <p:nvGraphicFramePr>
          <p:cNvPr id="4" name="Chart 0" descr=""/>
          <p:cNvGraphicFramePr/>
          <p:nvPr/>
        </p:nvGraphicFramePr>
        <p:xfrm>
          <a:off x="457200" y="1234440"/>
          <a:ext cx="493776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0" y="1325880"/>
          <a:ext cx="3017520" cy="914400"/>
        </p:xfrm>
        <a:graphic>
          <a:graphicData uri="http://schemas.openxmlformats.org/drawingml/2006/table">
            <a:tbl>
              <a:tblPr/>
              <a:tblGrid>
                <a:gridCol w="1920240"/>
                <a:gridCol w="10972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Final</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r>
              <a:tr h="31089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Hit@1 / Hit@5</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100" dirty="0">
                          <a:solidFill>
                            <a:srgbClr val="0F172A"/>
                          </a:solidFill>
                          <a:latin typeface="Calibri" pitchFamily="34" charset="0"/>
                          <a:ea typeface="Calibri" pitchFamily="34" charset="-122"/>
                          <a:cs typeface="Calibri" pitchFamily="34" charset="-120"/>
                        </a:rPr>
                        <a:t>100% / 100%</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Mean reciprocal rank</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100" dirty="0">
                          <a:solidFill>
                            <a:srgbClr val="0F172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Cited page inside section</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100" dirty="0">
                          <a:solidFill>
                            <a:srgbClr val="0F172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10896">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Warm query latency</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100" dirty="0">
                          <a:solidFill>
                            <a:srgbClr val="0F172A"/>
                          </a:solidFill>
                          <a:latin typeface="Calibri" pitchFamily="34" charset="0"/>
                          <a:ea typeface="Calibri" pitchFamily="34" charset="-122"/>
                          <a:cs typeface="Calibri" pitchFamily="34" charset="-120"/>
                        </a:rPr>
                        <a:t>268 ms</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6" name="Text 2"/>
          <p:cNvSpPr txBox="1"/>
          <p:nvPr/>
        </p:nvSpPr>
        <p:spPr>
          <a:xfrm>
            <a:off x="5669280" y="3063240"/>
            <a:ext cx="3017520" cy="1234440"/>
          </a:xfrm>
          <a:prstGeom prst="rect">
            <a:avLst/>
          </a:prstGeom>
          <a:noFill/>
          <a:ln/>
        </p:spPr>
        <p:txBody>
          <a:bodyPr wrap="square" lIns="0" tIns="0" rIns="0" bIns="0" rtlCol="0" anchor="t"/>
          <a:lstStyle/>
          <a:p>
            <a:pPr indent="0" marL="0">
              <a:buNone/>
            </a:pPr>
            <a:r>
              <a:rPr lang="en-US" sz="1100" dirty="0">
                <a:solidFill>
                  <a:schemeClr val="tx2"/>
                </a:solidFill>
              </a:rPr>
              <a:t>The one miss in the first run was “variance of a Bernoulli variable”, answered by a table. Rewriting table rows as sentences for embedding and reranking fixed it (score 0.38 &gt; τ), and lifted the kernel-table question from 0.61 to 0.86.</a:t>
            </a:r>
            <a:endParaRPr lang="en-US" sz="1100" dirty="0"/>
          </a:p>
        </p:txBody>
      </p:sp>
      <p:sp>
        <p:nvSpPr>
          <p:cNvPr id="7" name="Text 3"/>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000" i="1" dirty="0">
                <a:solidFill>
                  <a:schemeClr val="tx2"/>
                </a:solidFill>
              </a:rPr>
              <a:t>10 hand-written questions over 4 lecture PDFs (13 pages): paraphrases, theorem numbers, a table lookup and a handwritten scan.</a:t>
            </a:r>
            <a:endParaRPr lang="en-US" sz="10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RESULTS</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What made a 7B model reliable enough</a:t>
            </a:r>
            <a:endParaRPr lang="en-US" sz="2600" dirty="0"/>
          </a:p>
        </p:txBody>
      </p:sp>
      <p:sp>
        <p:nvSpPr>
          <p:cNvPr id="4" name="Shape 2"/>
          <p:cNvSpPr/>
          <p:nvPr/>
        </p:nvSpPr>
        <p:spPr>
          <a:xfrm>
            <a:off x="457200" y="1280160"/>
            <a:ext cx="5120640" cy="822960"/>
          </a:xfrm>
          <a:prstGeom prst="roundRect">
            <a:avLst>
              <a:gd name="adj" fmla="val 8889"/>
            </a:avLst>
          </a:prstGeom>
          <a:solidFill>
            <a:schemeClr val="bg2"/>
          </a:solidFill>
          <a:ln w="9525">
            <a:solidFill>
              <a:schemeClr val="bg2"/>
            </a:solidFill>
            <a:prstDash val="solid"/>
          </a:ln>
        </p:spPr>
      </p:sp>
      <p:sp>
        <p:nvSpPr>
          <p:cNvPr id="5" name="Text 3"/>
          <p:cNvSpPr txBox="1"/>
          <p:nvPr/>
        </p:nvSpPr>
        <p:spPr>
          <a:xfrm>
            <a:off x="640080" y="1371600"/>
            <a:ext cx="2926080" cy="274320"/>
          </a:xfrm>
          <a:prstGeom prst="rect">
            <a:avLst/>
          </a:prstGeom>
          <a:noFill/>
          <a:ln/>
        </p:spPr>
        <p:txBody>
          <a:bodyPr wrap="square" lIns="0" tIns="0" rIns="0" bIns="0" rtlCol="0" anchor="t"/>
          <a:lstStyle/>
          <a:p>
            <a:pPr indent="0" marL="0">
              <a:buNone/>
            </a:pPr>
            <a:r>
              <a:rPr lang="en-US" sz="1300" b="1" dirty="0">
                <a:solidFill>
                  <a:schemeClr val="tx1"/>
                </a:solidFill>
              </a:rPr>
              <a:t>Sentences with a verified citation</a:t>
            </a:r>
            <a:endParaRPr lang="en-US" sz="1300" dirty="0"/>
          </a:p>
        </p:txBody>
      </p:sp>
      <p:sp>
        <p:nvSpPr>
          <p:cNvPr id="6" name="Text 4"/>
          <p:cNvSpPr txBox="1"/>
          <p:nvPr/>
        </p:nvSpPr>
        <p:spPr>
          <a:xfrm>
            <a:off x="640080" y="1664208"/>
            <a:ext cx="2926080" cy="365760"/>
          </a:xfrm>
          <a:prstGeom prst="rect">
            <a:avLst/>
          </a:prstGeom>
          <a:noFill/>
          <a:ln/>
        </p:spPr>
        <p:txBody>
          <a:bodyPr wrap="square" lIns="0" tIns="0" rIns="0" bIns="0" rtlCol="0" anchor="t"/>
          <a:lstStyle/>
          <a:p>
            <a:pPr indent="0" marL="0">
              <a:buNone/>
            </a:pPr>
            <a:r>
              <a:rPr lang="en-US" sz="1050" dirty="0">
                <a:solidFill>
                  <a:schemeClr val="tx2"/>
                </a:solidFill>
              </a:rPr>
              <a:t>rule repeated in the user turn + server-side completion</a:t>
            </a:r>
            <a:endParaRPr lang="en-US" sz="1050" dirty="0"/>
          </a:p>
        </p:txBody>
      </p:sp>
      <p:sp>
        <p:nvSpPr>
          <p:cNvPr id="7" name="Text 5"/>
          <p:cNvSpPr txBox="1"/>
          <p:nvPr/>
        </p:nvSpPr>
        <p:spPr>
          <a:xfrm>
            <a:off x="3611880" y="1444752"/>
            <a:ext cx="731520" cy="457200"/>
          </a:xfrm>
          <a:prstGeom prst="rect">
            <a:avLst/>
          </a:prstGeom>
          <a:noFill/>
          <a:ln/>
        </p:spPr>
        <p:txBody>
          <a:bodyPr wrap="square" lIns="0" tIns="0" rIns="0" bIns="0" rtlCol="0" anchor="t"/>
          <a:lstStyle/>
          <a:p>
            <a:pPr algn="r" indent="0" marL="0">
              <a:buNone/>
            </a:pPr>
            <a:r>
              <a:rPr lang="en-US" sz="2000" dirty="0">
                <a:solidFill>
                  <a:schemeClr val="tx2"/>
                </a:solidFill>
                <a:latin typeface="Cambria" pitchFamily="34" charset="0"/>
                <a:ea typeface="Cambria" pitchFamily="34" charset="-122"/>
                <a:cs typeface="Cambria" pitchFamily="34" charset="-120"/>
              </a:rPr>
              <a:t>29%</a:t>
            </a:r>
            <a:endParaRPr lang="en-US" sz="2000" dirty="0"/>
          </a:p>
        </p:txBody>
      </p:sp>
      <p:pic>
        <p:nvPicPr>
          <p:cNvPr id="8" name="Image 0" descr="preencoded.png">    </p:cNvPr>
          <p:cNvPicPr>
            <a:picLocks noChangeAspect="1"/>
          </p:cNvPicPr>
          <p:nvPr/>
        </p:nvPicPr>
        <p:blipFill>
          <a:blip r:embed="rId1"/>
          <a:stretch>
            <a:fillRect/>
          </a:stretch>
        </p:blipFill>
        <p:spPr>
          <a:xfrm>
            <a:off x="4434840" y="1554480"/>
            <a:ext cx="274320" cy="274320"/>
          </a:xfrm>
          <a:prstGeom prst="rect">
            <a:avLst/>
          </a:prstGeom>
        </p:spPr>
      </p:pic>
      <p:sp>
        <p:nvSpPr>
          <p:cNvPr id="9" name="Text 6"/>
          <p:cNvSpPr txBox="1"/>
          <p:nvPr/>
        </p:nvSpPr>
        <p:spPr>
          <a:xfrm>
            <a:off x="4754880" y="1426464"/>
            <a:ext cx="77724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100%</a:t>
            </a:r>
            <a:endParaRPr lang="en-US" sz="2200" dirty="0"/>
          </a:p>
        </p:txBody>
      </p:sp>
      <p:sp>
        <p:nvSpPr>
          <p:cNvPr id="10" name="Shape 7"/>
          <p:cNvSpPr/>
          <p:nvPr/>
        </p:nvSpPr>
        <p:spPr>
          <a:xfrm>
            <a:off x="457200" y="2240280"/>
            <a:ext cx="5120640" cy="822960"/>
          </a:xfrm>
          <a:prstGeom prst="roundRect">
            <a:avLst>
              <a:gd name="adj" fmla="val 8889"/>
            </a:avLst>
          </a:prstGeom>
          <a:solidFill>
            <a:schemeClr val="bg2"/>
          </a:solidFill>
          <a:ln w="9525">
            <a:solidFill>
              <a:schemeClr val="bg2"/>
            </a:solidFill>
            <a:prstDash val="solid"/>
          </a:ln>
        </p:spPr>
      </p:sp>
      <p:sp>
        <p:nvSpPr>
          <p:cNvPr id="11" name="Text 8"/>
          <p:cNvSpPr txBox="1"/>
          <p:nvPr/>
        </p:nvSpPr>
        <p:spPr>
          <a:xfrm>
            <a:off x="640080" y="2331720"/>
            <a:ext cx="2926080" cy="274320"/>
          </a:xfrm>
          <a:prstGeom prst="rect">
            <a:avLst/>
          </a:prstGeom>
          <a:noFill/>
          <a:ln/>
        </p:spPr>
        <p:txBody>
          <a:bodyPr wrap="square" lIns="0" tIns="0" rIns="0" bIns="0" rtlCol="0" anchor="t"/>
          <a:lstStyle/>
          <a:p>
            <a:pPr indent="0" marL="0">
              <a:buNone/>
            </a:pPr>
            <a:r>
              <a:rPr lang="en-US" sz="1300" b="1" dirty="0">
                <a:solidFill>
                  <a:schemeClr val="tx1"/>
                </a:solidFill>
              </a:rPr>
              <a:t>Quiz questions passing validation</a:t>
            </a:r>
            <a:endParaRPr lang="en-US" sz="1300" dirty="0"/>
          </a:p>
        </p:txBody>
      </p:sp>
      <p:sp>
        <p:nvSpPr>
          <p:cNvPr id="12" name="Text 9"/>
          <p:cNvSpPr txBox="1"/>
          <p:nvPr/>
        </p:nvSpPr>
        <p:spPr>
          <a:xfrm>
            <a:off x="640080" y="2624328"/>
            <a:ext cx="2926080" cy="365760"/>
          </a:xfrm>
          <a:prstGeom prst="rect">
            <a:avLst/>
          </a:prstGeom>
          <a:noFill/>
          <a:ln/>
        </p:spPr>
        <p:txBody>
          <a:bodyPr wrap="square" lIns="0" tIns="0" rIns="0" bIns="0" rtlCol="0" anchor="t"/>
          <a:lstStyle/>
          <a:p>
            <a:pPr indent="0" marL="0">
              <a:buNone/>
            </a:pPr>
            <a:r>
              <a:rPr lang="en-US" sz="1050" dirty="0">
                <a:solidFill>
                  <a:schemeClr val="tx2"/>
                </a:solidFill>
              </a:rPr>
              <a:t>numbered evidence sentences + repair of label slips</a:t>
            </a:r>
            <a:endParaRPr lang="en-US" sz="1050" dirty="0"/>
          </a:p>
        </p:txBody>
      </p:sp>
      <p:sp>
        <p:nvSpPr>
          <p:cNvPr id="13" name="Text 10"/>
          <p:cNvSpPr txBox="1"/>
          <p:nvPr/>
        </p:nvSpPr>
        <p:spPr>
          <a:xfrm>
            <a:off x="3611880" y="2404872"/>
            <a:ext cx="731520" cy="457200"/>
          </a:xfrm>
          <a:prstGeom prst="rect">
            <a:avLst/>
          </a:prstGeom>
          <a:noFill/>
          <a:ln/>
        </p:spPr>
        <p:txBody>
          <a:bodyPr wrap="square" lIns="0" tIns="0" rIns="0" bIns="0" rtlCol="0" anchor="t"/>
          <a:lstStyle/>
          <a:p>
            <a:pPr algn="r" indent="0" marL="0">
              <a:buNone/>
            </a:pPr>
            <a:r>
              <a:rPr lang="en-US" sz="2000" dirty="0">
                <a:solidFill>
                  <a:schemeClr val="tx2"/>
                </a:solidFill>
                <a:latin typeface="Cambria" pitchFamily="34" charset="0"/>
                <a:ea typeface="Cambria" pitchFamily="34" charset="-122"/>
                <a:cs typeface="Cambria" pitchFamily="34" charset="-120"/>
              </a:rPr>
              <a:t>33%</a:t>
            </a:r>
            <a:endParaRPr lang="en-US" sz="2000" dirty="0"/>
          </a:p>
        </p:txBody>
      </p:sp>
      <p:pic>
        <p:nvPicPr>
          <p:cNvPr id="14" name="Image 1" descr="preencoded.png">    </p:cNvPr>
          <p:cNvPicPr>
            <a:picLocks noChangeAspect="1"/>
          </p:cNvPicPr>
          <p:nvPr/>
        </p:nvPicPr>
        <p:blipFill>
          <a:blip r:embed="rId2"/>
          <a:stretch>
            <a:fillRect/>
          </a:stretch>
        </p:blipFill>
        <p:spPr>
          <a:xfrm>
            <a:off x="4434840" y="2514600"/>
            <a:ext cx="274320" cy="274320"/>
          </a:xfrm>
          <a:prstGeom prst="rect">
            <a:avLst/>
          </a:prstGeom>
        </p:spPr>
      </p:pic>
      <p:sp>
        <p:nvSpPr>
          <p:cNvPr id="15" name="Text 11"/>
          <p:cNvSpPr txBox="1"/>
          <p:nvPr/>
        </p:nvSpPr>
        <p:spPr>
          <a:xfrm>
            <a:off x="4754880" y="2386584"/>
            <a:ext cx="77724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100%</a:t>
            </a:r>
            <a:endParaRPr lang="en-US" sz="2200" dirty="0"/>
          </a:p>
        </p:txBody>
      </p:sp>
      <p:sp>
        <p:nvSpPr>
          <p:cNvPr id="16" name="Shape 12"/>
          <p:cNvSpPr/>
          <p:nvPr/>
        </p:nvSpPr>
        <p:spPr>
          <a:xfrm>
            <a:off x="457200" y="3200400"/>
            <a:ext cx="5120640" cy="822960"/>
          </a:xfrm>
          <a:prstGeom prst="roundRect">
            <a:avLst>
              <a:gd name="adj" fmla="val 8889"/>
            </a:avLst>
          </a:prstGeom>
          <a:solidFill>
            <a:schemeClr val="bg2"/>
          </a:solidFill>
          <a:ln w="9525">
            <a:solidFill>
              <a:schemeClr val="bg2"/>
            </a:solidFill>
            <a:prstDash val="solid"/>
          </a:ln>
        </p:spPr>
      </p:sp>
      <p:sp>
        <p:nvSpPr>
          <p:cNvPr id="17" name="Text 13"/>
          <p:cNvSpPr txBox="1"/>
          <p:nvPr/>
        </p:nvSpPr>
        <p:spPr>
          <a:xfrm>
            <a:off x="640080" y="3291840"/>
            <a:ext cx="2926080" cy="274320"/>
          </a:xfrm>
          <a:prstGeom prst="rect">
            <a:avLst/>
          </a:prstGeom>
          <a:noFill/>
          <a:ln/>
        </p:spPr>
        <p:txBody>
          <a:bodyPr wrap="square" lIns="0" tIns="0" rIns="0" bIns="0" rtlCol="0" anchor="t"/>
          <a:lstStyle/>
          <a:p>
            <a:pPr indent="0" marL="0">
              <a:buNone/>
            </a:pPr>
            <a:r>
              <a:rPr lang="en-US" sz="1300" b="1" dirty="0">
                <a:solidFill>
                  <a:schemeClr val="tx1"/>
                </a:solidFill>
              </a:rPr>
              <a:t>Benchmark questions found (Hit@1)</a:t>
            </a:r>
            <a:endParaRPr lang="en-US" sz="1300" dirty="0"/>
          </a:p>
        </p:txBody>
      </p:sp>
      <p:sp>
        <p:nvSpPr>
          <p:cNvPr id="18" name="Text 14"/>
          <p:cNvSpPr txBox="1"/>
          <p:nvPr/>
        </p:nvSpPr>
        <p:spPr>
          <a:xfrm>
            <a:off x="640080" y="3584448"/>
            <a:ext cx="2926080" cy="365760"/>
          </a:xfrm>
          <a:prstGeom prst="rect">
            <a:avLst/>
          </a:prstGeom>
          <a:noFill/>
          <a:ln/>
        </p:spPr>
        <p:txBody>
          <a:bodyPr wrap="square" lIns="0" tIns="0" rIns="0" bIns="0" rtlCol="0" anchor="t"/>
          <a:lstStyle/>
          <a:p>
            <a:pPr indent="0" marL="0">
              <a:buNone/>
            </a:pPr>
            <a:r>
              <a:rPr lang="en-US" sz="1050" dirty="0">
                <a:solidFill>
                  <a:schemeClr val="tx2"/>
                </a:solidFill>
              </a:rPr>
              <a:t>table rows rewritten as sentences for search</a:t>
            </a:r>
            <a:endParaRPr lang="en-US" sz="1050" dirty="0"/>
          </a:p>
        </p:txBody>
      </p:sp>
      <p:sp>
        <p:nvSpPr>
          <p:cNvPr id="19" name="Text 15"/>
          <p:cNvSpPr txBox="1"/>
          <p:nvPr/>
        </p:nvSpPr>
        <p:spPr>
          <a:xfrm>
            <a:off x="3611880" y="3364992"/>
            <a:ext cx="731520" cy="457200"/>
          </a:xfrm>
          <a:prstGeom prst="rect">
            <a:avLst/>
          </a:prstGeom>
          <a:noFill/>
          <a:ln/>
        </p:spPr>
        <p:txBody>
          <a:bodyPr wrap="square" lIns="0" tIns="0" rIns="0" bIns="0" rtlCol="0" anchor="t"/>
          <a:lstStyle/>
          <a:p>
            <a:pPr algn="r" indent="0" marL="0">
              <a:buNone/>
            </a:pPr>
            <a:r>
              <a:rPr lang="en-US" sz="2000" dirty="0">
                <a:solidFill>
                  <a:schemeClr val="tx2"/>
                </a:solidFill>
                <a:latin typeface="Cambria" pitchFamily="34" charset="0"/>
                <a:ea typeface="Cambria" pitchFamily="34" charset="-122"/>
                <a:cs typeface="Cambria" pitchFamily="34" charset="-120"/>
              </a:rPr>
              <a:t>90%</a:t>
            </a:r>
            <a:endParaRPr lang="en-US" sz="2000" dirty="0"/>
          </a:p>
        </p:txBody>
      </p:sp>
      <p:pic>
        <p:nvPicPr>
          <p:cNvPr id="20" name="Image 2" descr="preencoded.png">    </p:cNvPr>
          <p:cNvPicPr>
            <a:picLocks noChangeAspect="1"/>
          </p:cNvPicPr>
          <p:nvPr/>
        </p:nvPicPr>
        <p:blipFill>
          <a:blip r:embed="rId3"/>
          <a:stretch>
            <a:fillRect/>
          </a:stretch>
        </p:blipFill>
        <p:spPr>
          <a:xfrm>
            <a:off x="4434840" y="3474720"/>
            <a:ext cx="274320" cy="274320"/>
          </a:xfrm>
          <a:prstGeom prst="rect">
            <a:avLst/>
          </a:prstGeom>
        </p:spPr>
      </p:pic>
      <p:sp>
        <p:nvSpPr>
          <p:cNvPr id="21" name="Text 16"/>
          <p:cNvSpPr txBox="1"/>
          <p:nvPr/>
        </p:nvSpPr>
        <p:spPr>
          <a:xfrm>
            <a:off x="4754880" y="3346704"/>
            <a:ext cx="77724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100%</a:t>
            </a:r>
            <a:endParaRPr lang="en-US" sz="2200" dirty="0"/>
          </a:p>
        </p:txBody>
      </p:sp>
      <p:sp>
        <p:nvSpPr>
          <p:cNvPr id="22" name="Shape 17"/>
          <p:cNvSpPr/>
          <p:nvPr/>
        </p:nvSpPr>
        <p:spPr>
          <a:xfrm>
            <a:off x="5852160" y="1280160"/>
            <a:ext cx="2834640" cy="2743200"/>
          </a:xfrm>
          <a:prstGeom prst="roundRect">
            <a:avLst>
              <a:gd name="adj" fmla="val 2667"/>
            </a:avLst>
          </a:prstGeom>
          <a:solidFill>
            <a:schemeClr val="tx1"/>
          </a:solidFill>
          <a:ln w="9525">
            <a:solidFill>
              <a:schemeClr val="tx1"/>
            </a:solidFill>
            <a:prstDash val="solid"/>
          </a:ln>
        </p:spPr>
      </p:sp>
      <p:sp>
        <p:nvSpPr>
          <p:cNvPr id="23" name="Text 18"/>
          <p:cNvSpPr txBox="1"/>
          <p:nvPr/>
        </p:nvSpPr>
        <p:spPr>
          <a:xfrm>
            <a:off x="6035040" y="1417320"/>
            <a:ext cx="2560320" cy="228600"/>
          </a:xfrm>
          <a:prstGeom prst="rect">
            <a:avLst/>
          </a:prstGeom>
          <a:noFill/>
          <a:ln/>
        </p:spPr>
        <p:txBody>
          <a:bodyPr wrap="square" lIns="0" tIns="0" rIns="0" bIns="0" rtlCol="0" anchor="t"/>
          <a:lstStyle/>
          <a:p>
            <a:pPr indent="0" marL="0">
              <a:buNone/>
            </a:pPr>
            <a:r>
              <a:rPr lang="en-US" sz="900" b="1" spc="200" kern="0" dirty="0">
                <a:solidFill>
                  <a:schemeClr val="accent2"/>
                </a:solidFill>
              </a:rPr>
              <a:t>AUTOMATED TESTS, ALL PASSING</a:t>
            </a:r>
            <a:endParaRPr lang="en-US" sz="900" dirty="0"/>
          </a:p>
        </p:txBody>
      </p:sp>
      <p:sp>
        <p:nvSpPr>
          <p:cNvPr id="24" name="Text 19"/>
          <p:cNvSpPr txBox="1"/>
          <p:nvPr/>
        </p:nvSpPr>
        <p:spPr>
          <a:xfrm>
            <a:off x="6035040" y="1737360"/>
            <a:ext cx="82296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289</a:t>
            </a:r>
            <a:endParaRPr lang="en-US" sz="2200" dirty="0"/>
          </a:p>
        </p:txBody>
      </p:sp>
      <p:sp>
        <p:nvSpPr>
          <p:cNvPr id="25" name="Text 20"/>
          <p:cNvSpPr txBox="1"/>
          <p:nvPr/>
        </p:nvSpPr>
        <p:spPr>
          <a:xfrm>
            <a:off x="6858000" y="1810512"/>
            <a:ext cx="1737360" cy="411480"/>
          </a:xfrm>
          <a:prstGeom prst="rect">
            <a:avLst/>
          </a:prstGeom>
          <a:noFill/>
          <a:ln/>
        </p:spPr>
        <p:txBody>
          <a:bodyPr wrap="square" lIns="0" tIns="0" rIns="0" bIns="0" rtlCol="0" anchor="t"/>
          <a:lstStyle/>
          <a:p>
            <a:pPr indent="0" marL="0">
              <a:buNone/>
            </a:pPr>
            <a:r>
              <a:rPr lang="en-US" sz="1050" dirty="0">
                <a:solidFill>
                  <a:schemeClr val="bg2"/>
                </a:solidFill>
              </a:rPr>
              <a:t>backend unit + API end-to-end</a:t>
            </a:r>
            <a:endParaRPr lang="en-US" sz="1050" dirty="0"/>
          </a:p>
        </p:txBody>
      </p:sp>
      <p:sp>
        <p:nvSpPr>
          <p:cNvPr id="26" name="Text 21"/>
          <p:cNvSpPr txBox="1"/>
          <p:nvPr/>
        </p:nvSpPr>
        <p:spPr>
          <a:xfrm>
            <a:off x="6035040" y="2286000"/>
            <a:ext cx="82296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56</a:t>
            </a:r>
            <a:endParaRPr lang="en-US" sz="2200" dirty="0"/>
          </a:p>
        </p:txBody>
      </p:sp>
      <p:sp>
        <p:nvSpPr>
          <p:cNvPr id="27" name="Text 22"/>
          <p:cNvSpPr txBox="1"/>
          <p:nvPr/>
        </p:nvSpPr>
        <p:spPr>
          <a:xfrm>
            <a:off x="6858000" y="2359152"/>
            <a:ext cx="1737360" cy="411480"/>
          </a:xfrm>
          <a:prstGeom prst="rect">
            <a:avLst/>
          </a:prstGeom>
          <a:noFill/>
          <a:ln/>
        </p:spPr>
        <p:txBody>
          <a:bodyPr wrap="square" lIns="0" tIns="0" rIns="0" bIns="0" rtlCol="0" anchor="t"/>
          <a:lstStyle/>
          <a:p>
            <a:pPr indent="0" marL="0">
              <a:buNone/>
            </a:pPr>
            <a:r>
              <a:rPr lang="en-US" sz="1050" dirty="0">
                <a:solidFill>
                  <a:schemeClr val="bg2"/>
                </a:solidFill>
              </a:rPr>
              <a:t>frontend unit (Vitest)</a:t>
            </a:r>
            <a:endParaRPr lang="en-US" sz="1050" dirty="0"/>
          </a:p>
        </p:txBody>
      </p:sp>
      <p:sp>
        <p:nvSpPr>
          <p:cNvPr id="28" name="Text 23"/>
          <p:cNvSpPr txBox="1"/>
          <p:nvPr/>
        </p:nvSpPr>
        <p:spPr>
          <a:xfrm>
            <a:off x="6035040" y="2834640"/>
            <a:ext cx="82296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9</a:t>
            </a:r>
            <a:endParaRPr lang="en-US" sz="2200" dirty="0"/>
          </a:p>
        </p:txBody>
      </p:sp>
      <p:sp>
        <p:nvSpPr>
          <p:cNvPr id="29" name="Text 24"/>
          <p:cNvSpPr txBox="1"/>
          <p:nvPr/>
        </p:nvSpPr>
        <p:spPr>
          <a:xfrm>
            <a:off x="6858000" y="2907792"/>
            <a:ext cx="1737360" cy="411480"/>
          </a:xfrm>
          <a:prstGeom prst="rect">
            <a:avLst/>
          </a:prstGeom>
          <a:noFill/>
          <a:ln/>
        </p:spPr>
        <p:txBody>
          <a:bodyPr wrap="square" lIns="0" tIns="0" rIns="0" bIns="0" rtlCol="0" anchor="t"/>
          <a:lstStyle/>
          <a:p>
            <a:pPr indent="0" marL="0">
              <a:buNone/>
            </a:pPr>
            <a:r>
              <a:rPr lang="en-US" sz="1050" dirty="0">
                <a:solidFill>
                  <a:schemeClr val="bg2"/>
                </a:solidFill>
              </a:rPr>
              <a:t>browser end-to-end (desktop + mobile)</a:t>
            </a:r>
            <a:endParaRPr lang="en-US" sz="1050" dirty="0"/>
          </a:p>
        </p:txBody>
      </p:sp>
      <p:sp>
        <p:nvSpPr>
          <p:cNvPr id="30" name="Text 25"/>
          <p:cNvSpPr txBox="1"/>
          <p:nvPr/>
        </p:nvSpPr>
        <p:spPr>
          <a:xfrm>
            <a:off x="6035040" y="3383280"/>
            <a:ext cx="82296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31" name="Text 26"/>
          <p:cNvSpPr txBox="1"/>
          <p:nvPr/>
        </p:nvSpPr>
        <p:spPr>
          <a:xfrm>
            <a:off x="6858000" y="3456432"/>
            <a:ext cx="1737360" cy="411480"/>
          </a:xfrm>
          <a:prstGeom prst="rect">
            <a:avLst/>
          </a:prstGeom>
          <a:noFill/>
          <a:ln/>
        </p:spPr>
        <p:txBody>
          <a:bodyPr wrap="square" lIns="0" tIns="0" rIns="0" bIns="0" rtlCol="0" anchor="t"/>
          <a:lstStyle/>
          <a:p>
            <a:pPr indent="0" marL="0">
              <a:buNone/>
            </a:pPr>
            <a:r>
              <a:rPr lang="en-US" sz="1050" dirty="0">
                <a:solidFill>
                  <a:schemeClr val="bg2"/>
                </a:solidFill>
              </a:rPr>
              <a:t>live tests on the real models</a:t>
            </a:r>
            <a:endParaRPr lang="en-US" sz="1050" dirty="0"/>
          </a:p>
        </p:txBody>
      </p:sp>
      <p:sp>
        <p:nvSpPr>
          <p:cNvPr id="32" name="Text 27"/>
          <p:cNvSpPr txBox="1"/>
          <p:nvPr/>
        </p:nvSpPr>
        <p:spPr>
          <a:xfrm>
            <a:off x="5852160" y="4069080"/>
            <a:ext cx="2834640" cy="548640"/>
          </a:xfrm>
          <a:prstGeom prst="rect">
            <a:avLst/>
          </a:prstGeom>
          <a:noFill/>
          <a:ln/>
        </p:spPr>
        <p:txBody>
          <a:bodyPr wrap="square" lIns="0" tIns="0" rIns="0" bIns="0" rtlCol="0" anchor="t"/>
          <a:lstStyle/>
          <a:p>
            <a:pPr indent="0" marL="0">
              <a:buNone/>
            </a:pPr>
            <a:r>
              <a:rPr lang="en-US" sz="1000" i="1" dirty="0">
                <a:solidFill>
                  <a:schemeClr val="tx2"/>
                </a:solidFill>
              </a:rPr>
              <a:t>Positive and negative cases for every component: invalid, empty, encrypted and duplicate PDFs, off-topic questions, malformed model output.</a:t>
            </a:r>
            <a:endParaRPr lang="en-US" sz="10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RELATION TO THE SYLLABUS</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Modules 1–4: agents, search, local search, logic</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234440"/>
                <a:gridCol w="1965960"/>
                <a:gridCol w="4343400"/>
                <a:gridCol w="6858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Module</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Syllabus topics</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it appears in this project</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Link</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M1 Introduction &amp; Intelligent Agents</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Agent structure, environments, applications of AI</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The app is a learning agent: it perceives notes (parser, OCR) and questions, acts by answering and quizzing, and keeps a student model. The environment is partially observable (knowledge is hidden) and sequential.</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latin typeface="Calibri" pitchFamily="34" charset="0"/>
                          <a:ea typeface="Calibri" pitchFamily="34" charset="-122"/>
                          <a:cs typeface="Calibri" pitchFamily="34" charset="-120"/>
                        </a:rPr>
                        <a:t>Strong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M2 Search</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State-space search, best-first, uniform cost, A*</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Retrieval is search over a space of passages: Qdrant's HNSW index runs greedy best-first search on vector distance; BM25 and RRF rank and prune candidates to the top 15 / top 5.</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latin typeface="Calibri" pitchFamily="34" charset="0"/>
                          <a:ea typeface="Calibri" pitchFamily="34" charset="-122"/>
                          <a:cs typeface="Calibri" pitchFamily="34" charset="-120"/>
                        </a:rPr>
                        <a:t>Strong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M3 Local &amp; Adversarial Search</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Hill climbing, simulated annealing, minimax</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Quiz generation is generate-and-test: score a draft against constraints, repair it, or restart with a higher temperature. Distractors are chosen as the most tempting wrong answers.</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97706"/>
                          </a:solidFill>
                          <a:latin typeface="Calibri" pitchFamily="34" charset="0"/>
                          <a:ea typeface="Calibri" pitchFamily="34" charset="-122"/>
                          <a:cs typeface="Calibri" pitchFamily="34" charset="-120"/>
                        </a:rPr>
                        <a:t>Partial</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M4 Logic &amp; Reasoning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Propositional and first-order logic, forward chaining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Citation and quiz validation are rule-based inference: facts (file, page, section range) fire rules that conclude valid / moved / unsupported; “exactly one correct option” is a propositional constraint.</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latin typeface="Calibri" pitchFamily="34" charset="0"/>
                          <a:ea typeface="Calibri" pitchFamily="34" charset="-122"/>
                          <a:cs typeface="Calibri" pitchFamily="34" charset="-120"/>
                        </a:rPr>
                        <a:t>Strong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RELATION TO THE SYLLABUS</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Modules 5–8: uncertainty, planning, language</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234440"/>
                <a:gridCol w="1965960"/>
                <a:gridCol w="4343400"/>
                <a:gridCol w="6858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Module</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Syllabus topics</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it appears in this project</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Link</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72A"/>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M5 Uncertain Knowledge</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Quantifying uncertainty, Bayes rule, Bayesian networks</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BM25 comes from the probabilistic relevance model; the reranker outputs P(relevant | question, passage) and τ = 0.35 is a decision threshold; mastery is a belief about the student, updated by evidence (a simplified knowledge-tracing model).</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latin typeface="Calibri" pitchFamily="34" charset="0"/>
                          <a:ea typeface="Calibri" pitchFamily="34" charset="-122"/>
                          <a:cs typeface="Calibri" pitchFamily="34" charset="-120"/>
                        </a:rPr>
                        <a:t>Strong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M6 Planning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Classical, hierarchical planning, acting under uncertainty</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A quiz is planned top-down: goal (n questions on weak spots) → slots → section → Bloom level → generate → validate. Ingestion is a tracked plan (queued → parsing → chunking → indexing → ready) with a fallback parser.</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97706"/>
                          </a:solidFill>
                          <a:latin typeface="Calibri" pitchFamily="34" charset="0"/>
                          <a:ea typeface="Calibri" pitchFamily="34" charset="-122"/>
                          <a:cs typeface="Calibri" pitchFamily="34" charset="-120"/>
                        </a:rPr>
                        <a:t>Partial</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M7 Communicating, Perceiving, Acting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Probabilistic language processing, information retrieval, information extraction, perception, object recognition</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The core of the project: hybrid retrieval and reranking (IR), layout parsing, tables and formula-to-LaTeX (IE), LLM generation and tokenization (language), layout detection and OCR on page images (perception).</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latin typeface="Calibri" pitchFamily="34" charset="0"/>
                          <a:ea typeface="Calibri" pitchFamily="34" charset="-122"/>
                          <a:cs typeface="Calibri" pitchFamily="34" charset="-120"/>
                        </a:rPr>
                        <a:t>Strong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M8 Contemporary Issues</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Current topics in AI</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Hallucination and grounded generation, verifiable citations, local and private inference on a laptop GPU, academic integrity.</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latin typeface="Calibri" pitchFamily="34" charset="0"/>
                          <a:ea typeface="Calibri" pitchFamily="34" charset="-122"/>
                          <a:cs typeface="Calibri" pitchFamily="34" charset="-120"/>
                        </a:rPr>
                        <a:t>Strong</a:t>
                      </a:r>
                      <a:endParaRPr lang="en-US" sz="1000" dirty="0">
                        <a:latin typeface="Calibri" charset="0"/>
                        <a:ea typeface="Calibri" charset="0"/>
                        <a:cs typeface="Calibri" charset="0"/>
                      </a:endParaRPr>
                    </a:p>
                  </a:txBody>
                  <a:tcPr marL="54864" marR="54864" marT="54864" marB="54864"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RELATION TO THE SYLLABUS</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Course outcomes met by the project</a:t>
            </a:r>
            <a:endParaRPr lang="en-US" sz="2600" dirty="0"/>
          </a:p>
        </p:txBody>
      </p:sp>
      <p:sp>
        <p:nvSpPr>
          <p:cNvPr id="4" name="Shape 2"/>
          <p:cNvSpPr/>
          <p:nvPr/>
        </p:nvSpPr>
        <p:spPr>
          <a:xfrm>
            <a:off x="457200" y="1280160"/>
            <a:ext cx="4023360" cy="1463040"/>
          </a:xfrm>
          <a:prstGeom prst="roundRect">
            <a:avLst>
              <a:gd name="adj" fmla="val 5000"/>
            </a:avLst>
          </a:prstGeom>
          <a:solidFill>
            <a:schemeClr val="bg2"/>
          </a:solidFill>
          <a:ln w="9525">
            <a:solidFill>
              <a:schemeClr val="bg2"/>
            </a:solidFill>
            <a:prstDash val="solid"/>
          </a:ln>
        </p:spPr>
      </p:sp>
      <p:sp>
        <p:nvSpPr>
          <p:cNvPr id="5" name="Shape 3"/>
          <p:cNvSpPr/>
          <p:nvPr/>
        </p:nvSpPr>
        <p:spPr>
          <a:xfrm>
            <a:off x="640080" y="1463040"/>
            <a:ext cx="685800" cy="365760"/>
          </a:xfrm>
          <a:prstGeom prst="roundRect">
            <a:avLst>
              <a:gd name="adj" fmla="val 15000"/>
            </a:avLst>
          </a:prstGeom>
          <a:solidFill>
            <a:schemeClr val="accent1"/>
          </a:solidFill>
          <a:ln w="12700">
            <a:solidFill>
              <a:schemeClr val="accent1"/>
            </a:solidFill>
            <a:prstDash val="solid"/>
          </a:ln>
        </p:spPr>
      </p:sp>
      <p:sp>
        <p:nvSpPr>
          <p:cNvPr id="6" name="Text 4"/>
          <p:cNvSpPr txBox="1"/>
          <p:nvPr/>
        </p:nvSpPr>
        <p:spPr>
          <a:xfrm>
            <a:off x="640080" y="1463040"/>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CO1</a:t>
            </a:r>
            <a:endParaRPr lang="en-US" sz="1300" dirty="0"/>
          </a:p>
        </p:txBody>
      </p:sp>
      <p:sp>
        <p:nvSpPr>
          <p:cNvPr id="7" name="Text 5"/>
          <p:cNvSpPr txBox="1"/>
          <p:nvPr/>
        </p:nvSpPr>
        <p:spPr>
          <a:xfrm>
            <a:off x="1463040" y="1426464"/>
            <a:ext cx="2880360" cy="457200"/>
          </a:xfrm>
          <a:prstGeom prst="rect">
            <a:avLst/>
          </a:prstGeom>
          <a:noFill/>
          <a:ln/>
        </p:spPr>
        <p:txBody>
          <a:bodyPr wrap="square" lIns="0" tIns="0" rIns="0" bIns="0" rtlCol="0" anchor="ctr"/>
          <a:lstStyle/>
          <a:p>
            <a:pPr indent="0" marL="0">
              <a:buNone/>
            </a:pPr>
            <a:r>
              <a:rPr lang="en-US" sz="1200" b="1" dirty="0">
                <a:solidFill>
                  <a:schemeClr val="tx1"/>
                </a:solidFill>
              </a:rPr>
              <a:t>Evaluate AI methods and their foundations</a:t>
            </a:r>
            <a:endParaRPr lang="en-US" sz="1200" dirty="0"/>
          </a:p>
        </p:txBody>
      </p:sp>
      <p:sp>
        <p:nvSpPr>
          <p:cNvPr id="8" name="Text 6"/>
          <p:cNvSpPr txBox="1"/>
          <p:nvPr/>
        </p:nvSpPr>
        <p:spPr>
          <a:xfrm>
            <a:off x="640080" y="2011680"/>
            <a:ext cx="3657600" cy="685800"/>
          </a:xfrm>
          <a:prstGeom prst="rect">
            <a:avLst/>
          </a:prstGeom>
          <a:noFill/>
          <a:ln/>
        </p:spPr>
        <p:txBody>
          <a:bodyPr wrap="square" lIns="0" tIns="0" rIns="0" bIns="0" rtlCol="0" anchor="t"/>
          <a:lstStyle/>
          <a:p>
            <a:pPr indent="0" marL="0">
              <a:buNone/>
            </a:pPr>
            <a:r>
              <a:rPr lang="en-US" sz="1100" dirty="0">
                <a:solidFill>
                  <a:schemeClr val="tx2"/>
                </a:solidFill>
              </a:rPr>
              <a:t>10-question retrieval benchmark (Hit@k, MRR); offline stand-ins vs. real models; before/after ablations of each fix.</a:t>
            </a:r>
            <a:endParaRPr lang="en-US" sz="1100" dirty="0"/>
          </a:p>
        </p:txBody>
      </p:sp>
      <p:sp>
        <p:nvSpPr>
          <p:cNvPr id="9" name="Shape 7"/>
          <p:cNvSpPr/>
          <p:nvPr/>
        </p:nvSpPr>
        <p:spPr>
          <a:xfrm>
            <a:off x="4663440" y="1280160"/>
            <a:ext cx="4023360" cy="1463040"/>
          </a:xfrm>
          <a:prstGeom prst="roundRect">
            <a:avLst>
              <a:gd name="adj" fmla="val 5000"/>
            </a:avLst>
          </a:prstGeom>
          <a:solidFill>
            <a:schemeClr val="bg2"/>
          </a:solidFill>
          <a:ln w="9525">
            <a:solidFill>
              <a:schemeClr val="bg2"/>
            </a:solidFill>
            <a:prstDash val="solid"/>
          </a:ln>
        </p:spPr>
      </p:sp>
      <p:sp>
        <p:nvSpPr>
          <p:cNvPr id="10" name="Shape 8"/>
          <p:cNvSpPr/>
          <p:nvPr/>
        </p:nvSpPr>
        <p:spPr>
          <a:xfrm>
            <a:off x="4846320" y="1463040"/>
            <a:ext cx="685800" cy="365760"/>
          </a:xfrm>
          <a:prstGeom prst="roundRect">
            <a:avLst>
              <a:gd name="adj" fmla="val 15000"/>
            </a:avLst>
          </a:prstGeom>
          <a:solidFill>
            <a:schemeClr val="accent1"/>
          </a:solidFill>
          <a:ln w="12700">
            <a:solidFill>
              <a:schemeClr val="accent1"/>
            </a:solidFill>
            <a:prstDash val="solid"/>
          </a:ln>
        </p:spPr>
      </p:sp>
      <p:sp>
        <p:nvSpPr>
          <p:cNvPr id="11" name="Text 9"/>
          <p:cNvSpPr txBox="1"/>
          <p:nvPr/>
        </p:nvSpPr>
        <p:spPr>
          <a:xfrm>
            <a:off x="4846320" y="1463040"/>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CO2</a:t>
            </a:r>
            <a:endParaRPr lang="en-US" sz="1300" dirty="0"/>
          </a:p>
        </p:txBody>
      </p:sp>
      <p:sp>
        <p:nvSpPr>
          <p:cNvPr id="12" name="Text 10"/>
          <p:cNvSpPr txBox="1"/>
          <p:nvPr/>
        </p:nvSpPr>
        <p:spPr>
          <a:xfrm>
            <a:off x="5669280" y="1426464"/>
            <a:ext cx="2880360" cy="457200"/>
          </a:xfrm>
          <a:prstGeom prst="rect">
            <a:avLst/>
          </a:prstGeom>
          <a:noFill/>
          <a:ln/>
        </p:spPr>
        <p:txBody>
          <a:bodyPr wrap="square" lIns="0" tIns="0" rIns="0" bIns="0" rtlCol="0" anchor="ctr"/>
          <a:lstStyle/>
          <a:p>
            <a:pPr indent="0" marL="0">
              <a:buNone/>
            </a:pPr>
            <a:r>
              <a:rPr lang="en-US" sz="1200" b="1" dirty="0">
                <a:solidFill>
                  <a:schemeClr val="tx1"/>
                </a:solidFill>
              </a:rPr>
              <a:t>Apply AI to inference, perception, representation and learning</a:t>
            </a:r>
            <a:endParaRPr lang="en-US" sz="1200" dirty="0"/>
          </a:p>
        </p:txBody>
      </p:sp>
      <p:sp>
        <p:nvSpPr>
          <p:cNvPr id="13" name="Text 11"/>
          <p:cNvSpPr txBox="1"/>
          <p:nvPr/>
        </p:nvSpPr>
        <p:spPr>
          <a:xfrm>
            <a:off x="4846320" y="2011680"/>
            <a:ext cx="3657600" cy="685800"/>
          </a:xfrm>
          <a:prstGeom prst="rect">
            <a:avLst/>
          </a:prstGeom>
          <a:noFill/>
          <a:ln/>
        </p:spPr>
        <p:txBody>
          <a:bodyPr wrap="square" lIns="0" tIns="0" rIns="0" bIns="0" rtlCol="0" anchor="t"/>
          <a:lstStyle/>
          <a:p>
            <a:pPr indent="0" marL="0">
              <a:buNone/>
            </a:pPr>
            <a:r>
              <a:rPr lang="en-US" sz="1100" dirty="0">
                <a:solidFill>
                  <a:schemeClr val="tx2"/>
                </a:solidFill>
              </a:rPr>
              <a:t>Perception (layout, OCR), knowledge representation (parent/child chunks, vectors), inference (verification rules), learning (mastery model).</a:t>
            </a:r>
            <a:endParaRPr lang="en-US" sz="1100" dirty="0"/>
          </a:p>
        </p:txBody>
      </p:sp>
      <p:sp>
        <p:nvSpPr>
          <p:cNvPr id="14" name="Shape 12"/>
          <p:cNvSpPr/>
          <p:nvPr/>
        </p:nvSpPr>
        <p:spPr>
          <a:xfrm>
            <a:off x="457200" y="2926080"/>
            <a:ext cx="4023360" cy="1463040"/>
          </a:xfrm>
          <a:prstGeom prst="roundRect">
            <a:avLst>
              <a:gd name="adj" fmla="val 5000"/>
            </a:avLst>
          </a:prstGeom>
          <a:solidFill>
            <a:schemeClr val="bg2"/>
          </a:solidFill>
          <a:ln w="9525">
            <a:solidFill>
              <a:schemeClr val="bg2"/>
            </a:solidFill>
            <a:prstDash val="solid"/>
          </a:ln>
        </p:spPr>
      </p:sp>
      <p:sp>
        <p:nvSpPr>
          <p:cNvPr id="15" name="Shape 13"/>
          <p:cNvSpPr/>
          <p:nvPr/>
        </p:nvSpPr>
        <p:spPr>
          <a:xfrm>
            <a:off x="640080" y="3108960"/>
            <a:ext cx="685800" cy="365760"/>
          </a:xfrm>
          <a:prstGeom prst="roundRect">
            <a:avLst>
              <a:gd name="adj" fmla="val 15000"/>
            </a:avLst>
          </a:prstGeom>
          <a:solidFill>
            <a:schemeClr val="accent1"/>
          </a:solidFill>
          <a:ln w="12700">
            <a:solidFill>
              <a:schemeClr val="accent1"/>
            </a:solidFill>
            <a:prstDash val="solid"/>
          </a:ln>
        </p:spPr>
      </p:sp>
      <p:sp>
        <p:nvSpPr>
          <p:cNvPr id="16" name="Text 14"/>
          <p:cNvSpPr txBox="1"/>
          <p:nvPr/>
        </p:nvSpPr>
        <p:spPr>
          <a:xfrm>
            <a:off x="640080" y="3108960"/>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CO3</a:t>
            </a:r>
            <a:endParaRPr lang="en-US" sz="1300" dirty="0"/>
          </a:p>
        </p:txBody>
      </p:sp>
      <p:sp>
        <p:nvSpPr>
          <p:cNvPr id="17" name="Text 15"/>
          <p:cNvSpPr txBox="1"/>
          <p:nvPr/>
        </p:nvSpPr>
        <p:spPr>
          <a:xfrm>
            <a:off x="1463040" y="3072384"/>
            <a:ext cx="2880360" cy="457200"/>
          </a:xfrm>
          <a:prstGeom prst="rect">
            <a:avLst/>
          </a:prstGeom>
          <a:noFill/>
          <a:ln/>
        </p:spPr>
        <p:txBody>
          <a:bodyPr wrap="square" lIns="0" tIns="0" rIns="0" bIns="0" rtlCol="0" anchor="ctr"/>
          <a:lstStyle/>
          <a:p>
            <a:pPr indent="0" marL="0">
              <a:buNone/>
            </a:pPr>
            <a:r>
              <a:rPr lang="en-US" sz="1200" b="1" dirty="0">
                <a:solidFill>
                  <a:schemeClr val="tx1"/>
                </a:solidFill>
              </a:rPr>
              <a:t>Reason with uncertainty and knowledge representation</a:t>
            </a:r>
            <a:endParaRPr lang="en-US" sz="1200" dirty="0"/>
          </a:p>
        </p:txBody>
      </p:sp>
      <p:sp>
        <p:nvSpPr>
          <p:cNvPr id="18" name="Text 16"/>
          <p:cNvSpPr txBox="1"/>
          <p:nvPr/>
        </p:nvSpPr>
        <p:spPr>
          <a:xfrm>
            <a:off x="640080" y="3657600"/>
            <a:ext cx="3657600" cy="685800"/>
          </a:xfrm>
          <a:prstGeom prst="rect">
            <a:avLst/>
          </a:prstGeom>
          <a:noFill/>
          <a:ln/>
        </p:spPr>
        <p:txBody>
          <a:bodyPr wrap="square" lIns="0" tIns="0" rIns="0" bIns="0" rtlCol="0" anchor="t"/>
          <a:lstStyle/>
          <a:p>
            <a:pPr indent="0" marL="0">
              <a:buNone/>
            </a:pPr>
            <a:r>
              <a:rPr lang="en-US" sz="1100" dirty="0">
                <a:solidFill>
                  <a:schemeClr val="tx2"/>
                </a:solidFill>
              </a:rPr>
              <a:t>Probabilistic ranking, a relevance threshold that answers “Not found” instead of guessing, mastery as an updated belief.</a:t>
            </a:r>
            <a:endParaRPr lang="en-US" sz="1100" dirty="0"/>
          </a:p>
        </p:txBody>
      </p:sp>
      <p:sp>
        <p:nvSpPr>
          <p:cNvPr id="19" name="Shape 17"/>
          <p:cNvSpPr/>
          <p:nvPr/>
        </p:nvSpPr>
        <p:spPr>
          <a:xfrm>
            <a:off x="4663440" y="2926080"/>
            <a:ext cx="4023360" cy="1463040"/>
          </a:xfrm>
          <a:prstGeom prst="roundRect">
            <a:avLst>
              <a:gd name="adj" fmla="val 5000"/>
            </a:avLst>
          </a:prstGeom>
          <a:solidFill>
            <a:schemeClr val="bg2"/>
          </a:solidFill>
          <a:ln w="9525">
            <a:solidFill>
              <a:schemeClr val="bg2"/>
            </a:solidFill>
            <a:prstDash val="solid"/>
          </a:ln>
        </p:spPr>
      </p:sp>
      <p:sp>
        <p:nvSpPr>
          <p:cNvPr id="20" name="Shape 18"/>
          <p:cNvSpPr/>
          <p:nvPr/>
        </p:nvSpPr>
        <p:spPr>
          <a:xfrm>
            <a:off x="4846320" y="3108960"/>
            <a:ext cx="685800" cy="365760"/>
          </a:xfrm>
          <a:prstGeom prst="roundRect">
            <a:avLst>
              <a:gd name="adj" fmla="val 15000"/>
            </a:avLst>
          </a:prstGeom>
          <a:solidFill>
            <a:schemeClr val="accent1"/>
          </a:solidFill>
          <a:ln w="12700">
            <a:solidFill>
              <a:schemeClr val="accent1"/>
            </a:solidFill>
            <a:prstDash val="solid"/>
          </a:ln>
        </p:spPr>
      </p:sp>
      <p:sp>
        <p:nvSpPr>
          <p:cNvPr id="21" name="Text 19"/>
          <p:cNvSpPr txBox="1"/>
          <p:nvPr/>
        </p:nvSpPr>
        <p:spPr>
          <a:xfrm>
            <a:off x="4846320" y="3108960"/>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CO4</a:t>
            </a:r>
            <a:endParaRPr lang="en-US" sz="1300" dirty="0"/>
          </a:p>
        </p:txBody>
      </p:sp>
      <p:sp>
        <p:nvSpPr>
          <p:cNvPr id="22" name="Text 20"/>
          <p:cNvSpPr txBox="1"/>
          <p:nvPr/>
        </p:nvSpPr>
        <p:spPr>
          <a:xfrm>
            <a:off x="5669280" y="3072384"/>
            <a:ext cx="2880360" cy="457200"/>
          </a:xfrm>
          <a:prstGeom prst="rect">
            <a:avLst/>
          </a:prstGeom>
          <a:noFill/>
          <a:ln/>
        </p:spPr>
        <p:txBody>
          <a:bodyPr wrap="square" lIns="0" tIns="0" rIns="0" bIns="0" rtlCol="0" anchor="ctr"/>
          <a:lstStyle/>
          <a:p>
            <a:pPr indent="0" marL="0">
              <a:buNone/>
            </a:pPr>
            <a:r>
              <a:rPr lang="en-US" sz="1200" b="1" dirty="0">
                <a:solidFill>
                  <a:schemeClr val="tx1"/>
                </a:solidFill>
              </a:rPr>
              <a:t>Show how search drives problem solving</a:t>
            </a:r>
            <a:endParaRPr lang="en-US" sz="1200" dirty="0"/>
          </a:p>
        </p:txBody>
      </p:sp>
      <p:sp>
        <p:nvSpPr>
          <p:cNvPr id="23" name="Text 21"/>
          <p:cNvSpPr txBox="1"/>
          <p:nvPr/>
        </p:nvSpPr>
        <p:spPr>
          <a:xfrm>
            <a:off x="4846320" y="3657600"/>
            <a:ext cx="3657600" cy="685800"/>
          </a:xfrm>
          <a:prstGeom prst="rect">
            <a:avLst/>
          </a:prstGeom>
          <a:noFill/>
          <a:ln/>
        </p:spPr>
        <p:txBody>
          <a:bodyPr wrap="square" lIns="0" tIns="0" rIns="0" bIns="0" rtlCol="0" anchor="t"/>
          <a:lstStyle/>
          <a:p>
            <a:pPr indent="0" marL="0">
              <a:buNone/>
            </a:pPr>
            <a:r>
              <a:rPr lang="en-US" sz="1100" dirty="0">
                <a:solidFill>
                  <a:schemeClr val="tx2"/>
                </a:solidFill>
              </a:rPr>
              <a:t>Best-first vector search, BM25 ranking, rank fusion and top-k pruning decide what the model is allowed to say.</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WHAT WE LEARNED</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Problems we hit, and how we fixed them</a:t>
            </a:r>
            <a:endParaRPr lang="en-US" sz="2600" dirty="0"/>
          </a:p>
        </p:txBody>
      </p:sp>
      <p:sp>
        <p:nvSpPr>
          <p:cNvPr id="4" name="Shape 2"/>
          <p:cNvSpPr/>
          <p:nvPr/>
        </p:nvSpPr>
        <p:spPr>
          <a:xfrm>
            <a:off x="457200" y="1280160"/>
            <a:ext cx="4023360" cy="1463040"/>
          </a:xfrm>
          <a:prstGeom prst="roundRect">
            <a:avLst>
              <a:gd name="adj" fmla="val 5000"/>
            </a:avLst>
          </a:prstGeom>
          <a:solidFill>
            <a:schemeClr val="bg2"/>
          </a:solidFill>
          <a:ln w="9525">
            <a:solidFill>
              <a:schemeClr val="bg2"/>
            </a:solidFill>
            <a:prstDash val="solid"/>
          </a:ln>
        </p:spPr>
      </p:sp>
      <p:sp>
        <p:nvSpPr>
          <p:cNvPr id="5" name="Shape 3"/>
          <p:cNvSpPr/>
          <p:nvPr/>
        </p:nvSpPr>
        <p:spPr>
          <a:xfrm>
            <a:off x="640080" y="1463040"/>
            <a:ext cx="384048" cy="384048"/>
          </a:xfrm>
          <a:prstGeom prst="ellipse">
            <a:avLst/>
          </a:prstGeom>
          <a:solidFill>
            <a:srgbClr val="D97706"/>
          </a:solidFill>
          <a:ln w="12700">
            <a:solidFill>
              <a:srgbClr val="D97706"/>
            </a:solidFill>
            <a:prstDash val="solid"/>
          </a:ln>
        </p:spPr>
      </p:sp>
      <p:pic>
        <p:nvPicPr>
          <p:cNvPr id="6" name="Image 0" descr="preencoded.png">    </p:cNvPr>
          <p:cNvPicPr>
            <a:picLocks noChangeAspect="1"/>
          </p:cNvPicPr>
          <p:nvPr/>
        </p:nvPicPr>
        <p:blipFill>
          <a:blip r:embed="rId1"/>
          <a:stretch>
            <a:fillRect/>
          </a:stretch>
        </p:blipFill>
        <p:spPr>
          <a:xfrm>
            <a:off x="732252" y="1555212"/>
            <a:ext cx="199705" cy="199705"/>
          </a:xfrm>
          <a:prstGeom prst="rect">
            <a:avLst/>
          </a:prstGeom>
        </p:spPr>
      </p:pic>
      <p:sp>
        <p:nvSpPr>
          <p:cNvPr id="7" name="Text 4"/>
          <p:cNvSpPr txBox="1"/>
          <p:nvPr/>
        </p:nvSpPr>
        <p:spPr>
          <a:xfrm>
            <a:off x="1143000" y="1499616"/>
            <a:ext cx="3200400" cy="274320"/>
          </a:xfrm>
          <a:prstGeom prst="rect">
            <a:avLst/>
          </a:prstGeom>
          <a:noFill/>
          <a:ln/>
        </p:spPr>
        <p:txBody>
          <a:bodyPr wrap="square" lIns="0" tIns="0" rIns="0" bIns="0" rtlCol="0" anchor="t"/>
          <a:lstStyle/>
          <a:p>
            <a:pPr indent="0" marL="0">
              <a:buNone/>
            </a:pPr>
            <a:r>
              <a:rPr lang="en-US" sz="1400" b="1" dirty="0">
                <a:solidFill>
                  <a:schemeClr val="tx1"/>
                </a:solidFill>
              </a:rPr>
              <a:t>Quotes were paraphrased</a:t>
            </a:r>
            <a:endParaRPr lang="en-US" sz="1400" dirty="0"/>
          </a:p>
        </p:txBody>
      </p:sp>
      <p:sp>
        <p:nvSpPr>
          <p:cNvPr id="8" name="Text 5"/>
          <p:cNvSpPr txBox="1"/>
          <p:nvPr/>
        </p:nvSpPr>
        <p:spPr>
          <a:xfrm>
            <a:off x="640080" y="1965960"/>
            <a:ext cx="3657600" cy="731520"/>
          </a:xfrm>
          <a:prstGeom prst="rect">
            <a:avLst/>
          </a:prstGeom>
          <a:noFill/>
          <a:ln/>
        </p:spPr>
        <p:txBody>
          <a:bodyPr wrap="square" lIns="0" tIns="0" rIns="0" bIns="0" rtlCol="0" anchor="t"/>
          <a:lstStyle/>
          <a:p>
            <a:pPr indent="0" marL="0">
              <a:buNone/>
            </a:pPr>
            <a:r>
              <a:rPr lang="en-US" sz="1100" dirty="0">
                <a:solidFill>
                  <a:schemeClr val="tx2"/>
                </a:solidFill>
              </a:rPr>
              <a:t>Qwen rewrote the “exact quote”, so 2 of 3 questions failed. Showing the notes as numbered sentences and asking for ids makes quotes verbatim by construction.</a:t>
            </a:r>
            <a:endParaRPr lang="en-US" sz="1100" dirty="0"/>
          </a:p>
        </p:txBody>
      </p:sp>
      <p:sp>
        <p:nvSpPr>
          <p:cNvPr id="9" name="Shape 6"/>
          <p:cNvSpPr/>
          <p:nvPr/>
        </p:nvSpPr>
        <p:spPr>
          <a:xfrm>
            <a:off x="4663440" y="1280160"/>
            <a:ext cx="4023360" cy="1463040"/>
          </a:xfrm>
          <a:prstGeom prst="roundRect">
            <a:avLst>
              <a:gd name="adj" fmla="val 5000"/>
            </a:avLst>
          </a:prstGeom>
          <a:solidFill>
            <a:schemeClr val="bg2"/>
          </a:solidFill>
          <a:ln w="9525">
            <a:solidFill>
              <a:schemeClr val="bg2"/>
            </a:solidFill>
            <a:prstDash val="solid"/>
          </a:ln>
        </p:spPr>
      </p:sp>
      <p:sp>
        <p:nvSpPr>
          <p:cNvPr id="10" name="Shape 7"/>
          <p:cNvSpPr/>
          <p:nvPr/>
        </p:nvSpPr>
        <p:spPr>
          <a:xfrm>
            <a:off x="4846320" y="1463040"/>
            <a:ext cx="384048" cy="384048"/>
          </a:xfrm>
          <a:prstGeom prst="ellipse">
            <a:avLst/>
          </a:prstGeom>
          <a:solidFill>
            <a:srgbClr val="D97706"/>
          </a:solidFill>
          <a:ln w="12700">
            <a:solidFill>
              <a:srgbClr val="D97706"/>
            </a:solidFill>
            <a:prstDash val="solid"/>
          </a:ln>
        </p:spPr>
      </p:sp>
      <p:pic>
        <p:nvPicPr>
          <p:cNvPr id="11" name="Image 1" descr="preencoded.png">    </p:cNvPr>
          <p:cNvPicPr>
            <a:picLocks noChangeAspect="1"/>
          </p:cNvPicPr>
          <p:nvPr/>
        </p:nvPicPr>
        <p:blipFill>
          <a:blip r:embed="rId2"/>
          <a:stretch>
            <a:fillRect/>
          </a:stretch>
        </p:blipFill>
        <p:spPr>
          <a:xfrm>
            <a:off x="4938492" y="1555212"/>
            <a:ext cx="199705" cy="199705"/>
          </a:xfrm>
          <a:prstGeom prst="rect">
            <a:avLst/>
          </a:prstGeom>
        </p:spPr>
      </p:pic>
      <p:sp>
        <p:nvSpPr>
          <p:cNvPr id="12" name="Text 8"/>
          <p:cNvSpPr txBox="1"/>
          <p:nvPr/>
        </p:nvSpPr>
        <p:spPr>
          <a:xfrm>
            <a:off x="5349240" y="1499616"/>
            <a:ext cx="3200400" cy="274320"/>
          </a:xfrm>
          <a:prstGeom prst="rect">
            <a:avLst/>
          </a:prstGeom>
          <a:noFill/>
          <a:ln/>
        </p:spPr>
        <p:txBody>
          <a:bodyPr wrap="square" lIns="0" tIns="0" rIns="0" bIns="0" rtlCol="0" anchor="t"/>
          <a:lstStyle/>
          <a:p>
            <a:pPr indent="0" marL="0">
              <a:buNone/>
            </a:pPr>
            <a:r>
              <a:rPr lang="en-US" sz="1400" b="1" dirty="0">
                <a:solidFill>
                  <a:schemeClr val="tx1"/>
                </a:solidFill>
              </a:rPr>
              <a:t>One citation per paragraph</a:t>
            </a:r>
            <a:endParaRPr lang="en-US" sz="1400" dirty="0"/>
          </a:p>
        </p:txBody>
      </p:sp>
      <p:sp>
        <p:nvSpPr>
          <p:cNvPr id="13" name="Text 9"/>
          <p:cNvSpPr txBox="1"/>
          <p:nvPr/>
        </p:nvSpPr>
        <p:spPr>
          <a:xfrm>
            <a:off x="4846320" y="1965960"/>
            <a:ext cx="3657600" cy="731520"/>
          </a:xfrm>
          <a:prstGeom prst="rect">
            <a:avLst/>
          </a:prstGeom>
          <a:noFill/>
          <a:ln/>
        </p:spPr>
        <p:txBody>
          <a:bodyPr wrap="square" lIns="0" tIns="0" rIns="0" bIns="0" rtlCol="0" anchor="t"/>
          <a:lstStyle/>
          <a:p>
            <a:pPr indent="0" marL="0">
              <a:buNone/>
            </a:pPr>
            <a:r>
              <a:rPr lang="en-US" sz="1100" dirty="0">
                <a:solidFill>
                  <a:schemeClr val="tx2"/>
                </a:solidFill>
              </a:rPr>
              <a:t>Only 29% of sentences carried a citation. Repeating the rule in the user turn and completing citations on the server reached 100%.</a:t>
            </a:r>
            <a:endParaRPr lang="en-US" sz="1100" dirty="0"/>
          </a:p>
        </p:txBody>
      </p:sp>
      <p:sp>
        <p:nvSpPr>
          <p:cNvPr id="14" name="Shape 10"/>
          <p:cNvSpPr/>
          <p:nvPr/>
        </p:nvSpPr>
        <p:spPr>
          <a:xfrm>
            <a:off x="457200" y="2926080"/>
            <a:ext cx="4023360" cy="1463040"/>
          </a:xfrm>
          <a:prstGeom prst="roundRect">
            <a:avLst>
              <a:gd name="adj" fmla="val 5000"/>
            </a:avLst>
          </a:prstGeom>
          <a:solidFill>
            <a:schemeClr val="bg2"/>
          </a:solidFill>
          <a:ln w="9525">
            <a:solidFill>
              <a:schemeClr val="bg2"/>
            </a:solidFill>
            <a:prstDash val="solid"/>
          </a:ln>
        </p:spPr>
      </p:sp>
      <p:sp>
        <p:nvSpPr>
          <p:cNvPr id="15" name="Shape 11"/>
          <p:cNvSpPr/>
          <p:nvPr/>
        </p:nvSpPr>
        <p:spPr>
          <a:xfrm>
            <a:off x="640080" y="3108960"/>
            <a:ext cx="384048" cy="384048"/>
          </a:xfrm>
          <a:prstGeom prst="ellipse">
            <a:avLst/>
          </a:prstGeom>
          <a:solidFill>
            <a:srgbClr val="D97706"/>
          </a:solidFill>
          <a:ln w="12700">
            <a:solidFill>
              <a:srgbClr val="D97706"/>
            </a:solidFill>
            <a:prstDash val="solid"/>
          </a:ln>
        </p:spPr>
      </p:sp>
      <p:pic>
        <p:nvPicPr>
          <p:cNvPr id="16" name="Image 2" descr="preencoded.png">    </p:cNvPr>
          <p:cNvPicPr>
            <a:picLocks noChangeAspect="1"/>
          </p:cNvPicPr>
          <p:nvPr/>
        </p:nvPicPr>
        <p:blipFill>
          <a:blip r:embed="rId3"/>
          <a:stretch>
            <a:fillRect/>
          </a:stretch>
        </p:blipFill>
        <p:spPr>
          <a:xfrm>
            <a:off x="732252" y="3201132"/>
            <a:ext cx="199705" cy="199705"/>
          </a:xfrm>
          <a:prstGeom prst="rect">
            <a:avLst/>
          </a:prstGeom>
        </p:spPr>
      </p:pic>
      <p:sp>
        <p:nvSpPr>
          <p:cNvPr id="17" name="Text 12"/>
          <p:cNvSpPr txBox="1"/>
          <p:nvPr/>
        </p:nvSpPr>
        <p:spPr>
          <a:xfrm>
            <a:off x="1143000" y="3145536"/>
            <a:ext cx="3200400" cy="274320"/>
          </a:xfrm>
          <a:prstGeom prst="rect">
            <a:avLst/>
          </a:prstGeom>
          <a:noFill/>
          <a:ln/>
        </p:spPr>
        <p:txBody>
          <a:bodyPr wrap="square" lIns="0" tIns="0" rIns="0" bIns="0" rtlCol="0" anchor="t"/>
          <a:lstStyle/>
          <a:p>
            <a:pPr indent="0" marL="0">
              <a:buNone/>
            </a:pPr>
            <a:r>
              <a:rPr lang="en-US" sz="1400" b="1" dirty="0">
                <a:solidFill>
                  <a:schemeClr val="tx1"/>
                </a:solidFill>
              </a:rPr>
              <a:t>Tables were invisible to search</a:t>
            </a:r>
            <a:endParaRPr lang="en-US" sz="1400" dirty="0"/>
          </a:p>
        </p:txBody>
      </p:sp>
      <p:sp>
        <p:nvSpPr>
          <p:cNvPr id="18" name="Text 13"/>
          <p:cNvSpPr txBox="1"/>
          <p:nvPr/>
        </p:nvSpPr>
        <p:spPr>
          <a:xfrm>
            <a:off x="640080" y="3611880"/>
            <a:ext cx="3657600" cy="731520"/>
          </a:xfrm>
          <a:prstGeom prst="rect">
            <a:avLst/>
          </a:prstGeom>
          <a:noFill/>
          <a:ln/>
        </p:spPr>
        <p:txBody>
          <a:bodyPr wrap="square" lIns="0" tIns="0" rIns="0" bIns="0" rtlCol="0" anchor="t"/>
          <a:lstStyle/>
          <a:p>
            <a:pPr indent="0" marL="0">
              <a:buNone/>
            </a:pPr>
            <a:r>
              <a:rPr lang="en-US" sz="1100" dirty="0">
                <a:solidFill>
                  <a:schemeClr val="tx2"/>
                </a:solidFill>
              </a:rPr>
              <a:t>Pipes and dashes don't look like a question. Rewriting rows as “Distribution: Bernoulli; Variance: p(1 − p).” fixed the benchmark miss.</a:t>
            </a:r>
            <a:endParaRPr lang="en-US" sz="1100" dirty="0"/>
          </a:p>
        </p:txBody>
      </p:sp>
      <p:sp>
        <p:nvSpPr>
          <p:cNvPr id="19" name="Shape 14"/>
          <p:cNvSpPr/>
          <p:nvPr/>
        </p:nvSpPr>
        <p:spPr>
          <a:xfrm>
            <a:off x="4663440" y="2926080"/>
            <a:ext cx="4023360" cy="1463040"/>
          </a:xfrm>
          <a:prstGeom prst="roundRect">
            <a:avLst>
              <a:gd name="adj" fmla="val 5000"/>
            </a:avLst>
          </a:prstGeom>
          <a:solidFill>
            <a:schemeClr val="bg2"/>
          </a:solidFill>
          <a:ln w="9525">
            <a:solidFill>
              <a:schemeClr val="bg2"/>
            </a:solidFill>
            <a:prstDash val="solid"/>
          </a:ln>
        </p:spPr>
      </p:sp>
      <p:sp>
        <p:nvSpPr>
          <p:cNvPr id="20" name="Shape 15"/>
          <p:cNvSpPr/>
          <p:nvPr/>
        </p:nvSpPr>
        <p:spPr>
          <a:xfrm>
            <a:off x="4846320" y="3108960"/>
            <a:ext cx="384048" cy="384048"/>
          </a:xfrm>
          <a:prstGeom prst="ellipse">
            <a:avLst/>
          </a:prstGeom>
          <a:solidFill>
            <a:srgbClr val="D97706"/>
          </a:solidFill>
          <a:ln w="12700">
            <a:solidFill>
              <a:srgbClr val="D97706"/>
            </a:solidFill>
            <a:prstDash val="solid"/>
          </a:ln>
        </p:spPr>
      </p:sp>
      <p:pic>
        <p:nvPicPr>
          <p:cNvPr id="21" name="Image 3" descr="preencoded.png">    </p:cNvPr>
          <p:cNvPicPr>
            <a:picLocks noChangeAspect="1"/>
          </p:cNvPicPr>
          <p:nvPr/>
        </p:nvPicPr>
        <p:blipFill>
          <a:blip r:embed="rId4"/>
          <a:stretch>
            <a:fillRect/>
          </a:stretch>
        </p:blipFill>
        <p:spPr>
          <a:xfrm>
            <a:off x="4938492" y="3201132"/>
            <a:ext cx="199705" cy="199705"/>
          </a:xfrm>
          <a:prstGeom prst="rect">
            <a:avLst/>
          </a:prstGeom>
        </p:spPr>
      </p:pic>
      <p:sp>
        <p:nvSpPr>
          <p:cNvPr id="22" name="Text 16"/>
          <p:cNvSpPr txBox="1"/>
          <p:nvPr/>
        </p:nvSpPr>
        <p:spPr>
          <a:xfrm>
            <a:off x="5349240" y="3145536"/>
            <a:ext cx="3200400" cy="274320"/>
          </a:xfrm>
          <a:prstGeom prst="rect">
            <a:avLst/>
          </a:prstGeom>
          <a:noFill/>
          <a:ln/>
        </p:spPr>
        <p:txBody>
          <a:bodyPr wrap="square" lIns="0" tIns="0" rIns="0" bIns="0" rtlCol="0" anchor="t"/>
          <a:lstStyle/>
          <a:p>
            <a:pPr indent="0" marL="0">
              <a:buNone/>
            </a:pPr>
            <a:r>
              <a:rPr lang="en-US" sz="1400" b="1" dirty="0">
                <a:solidFill>
                  <a:schemeClr val="tx1"/>
                </a:solidFill>
              </a:rPr>
              <a:t>Every heading was level 1</a:t>
            </a:r>
            <a:endParaRPr lang="en-US" sz="1400" dirty="0"/>
          </a:p>
        </p:txBody>
      </p:sp>
      <p:sp>
        <p:nvSpPr>
          <p:cNvPr id="23" name="Text 17"/>
          <p:cNvSpPr txBox="1"/>
          <p:nvPr/>
        </p:nvSpPr>
        <p:spPr>
          <a:xfrm>
            <a:off x="4846320" y="3611880"/>
            <a:ext cx="3657600" cy="731520"/>
          </a:xfrm>
          <a:prstGeom prst="rect">
            <a:avLst/>
          </a:prstGeom>
          <a:noFill/>
          <a:ln/>
        </p:spPr>
        <p:txBody>
          <a:bodyPr wrap="square" lIns="0" tIns="0" rIns="0" bIns="0" rtlCol="0" anchor="t"/>
          <a:lstStyle/>
          <a:p>
            <a:pPr indent="0" marL="0">
              <a:buNone/>
            </a:pPr>
            <a:r>
              <a:rPr lang="en-US" sz="1100" dirty="0">
                <a:solidFill>
                  <a:schemeClr val="tx2"/>
                </a:solidFill>
              </a:rPr>
              <a:t>Docling flattens heading levels, so sections never merged into 800-token parents. Merging now stops only at “Lecture N” / “Chapter N”.</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28600"/>
          </a:xfrm>
          <a:prstGeom prst="rect">
            <a:avLst/>
          </a:prstGeom>
          <a:noFill/>
          <a:ln/>
        </p:spPr>
        <p:txBody>
          <a:bodyPr wrap="square" lIns="0" tIns="0" rIns="0" bIns="0" rtlCol="0"/>
          <a:lstStyle/>
          <a:p>
            <a:pPr indent="0" marL="0">
              <a:buNone/>
            </a:pPr>
            <a:r>
              <a:rPr lang="en-US" sz="1000" b="1" spc="400" kern="0" dirty="0">
                <a:solidFill>
                  <a:schemeClr val="accent2"/>
                </a:solidFill>
              </a:rPr>
              <a:t>LIMITATIONS &amp; NEXT STEPS</a:t>
            </a:r>
            <a:endParaRPr lang="en-US" sz="10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chemeClr val="tx1"/>
                </a:solidFill>
                <a:latin typeface="Cambria" pitchFamily="34" charset="0"/>
                <a:ea typeface="Cambria" pitchFamily="34" charset="-122"/>
                <a:cs typeface="Cambria" pitchFamily="34" charset="-120"/>
              </a:rPr>
              <a:t>What it can't do yet, and where it goes next</a:t>
            </a:r>
            <a:endParaRPr lang="en-US" sz="2600" dirty="0"/>
          </a:p>
        </p:txBody>
      </p:sp>
      <p:sp>
        <p:nvSpPr>
          <p:cNvPr id="4" name="Shape 2"/>
          <p:cNvSpPr/>
          <p:nvPr/>
        </p:nvSpPr>
        <p:spPr>
          <a:xfrm>
            <a:off x="457200" y="1280160"/>
            <a:ext cx="2606040" cy="1828800"/>
          </a:xfrm>
          <a:prstGeom prst="roundRect">
            <a:avLst>
              <a:gd name="adj" fmla="val 4000"/>
            </a:avLst>
          </a:prstGeom>
          <a:solidFill>
            <a:schemeClr val="bg2"/>
          </a:solidFill>
          <a:ln w="9525">
            <a:solidFill>
              <a:schemeClr val="bg2"/>
            </a:solidFill>
            <a:prstDash val="solid"/>
          </a:ln>
        </p:spPr>
      </p:sp>
      <p:sp>
        <p:nvSpPr>
          <p:cNvPr id="5" name="Shape 3"/>
          <p:cNvSpPr/>
          <p:nvPr/>
        </p:nvSpPr>
        <p:spPr>
          <a:xfrm>
            <a:off x="640080" y="1463040"/>
            <a:ext cx="438912" cy="438912"/>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745419" y="1568379"/>
            <a:ext cx="228234" cy="228234"/>
          </a:xfrm>
          <a:prstGeom prst="rect">
            <a:avLst/>
          </a:prstGeom>
        </p:spPr>
      </p:pic>
      <p:sp>
        <p:nvSpPr>
          <p:cNvPr id="7" name="Text 4"/>
          <p:cNvSpPr txBox="1"/>
          <p:nvPr/>
        </p:nvSpPr>
        <p:spPr>
          <a:xfrm>
            <a:off x="640080" y="2011680"/>
            <a:ext cx="2240280" cy="274320"/>
          </a:xfrm>
          <a:prstGeom prst="rect">
            <a:avLst/>
          </a:prstGeom>
          <a:noFill/>
          <a:ln/>
        </p:spPr>
        <p:txBody>
          <a:bodyPr wrap="square" lIns="0" tIns="0" rIns="0" bIns="0" rtlCol="0" anchor="t"/>
          <a:lstStyle/>
          <a:p>
            <a:pPr indent="0" marL="0">
              <a:buNone/>
            </a:pPr>
            <a:r>
              <a:rPr lang="en-US" sz="1400" b="1" dirty="0">
                <a:solidFill>
                  <a:schemeClr val="tx1"/>
                </a:solidFill>
              </a:rPr>
              <a:t>Bigger evaluation</a:t>
            </a:r>
            <a:endParaRPr lang="en-US" sz="1400" dirty="0"/>
          </a:p>
        </p:txBody>
      </p:sp>
      <p:sp>
        <p:nvSpPr>
          <p:cNvPr id="8" name="Text 5"/>
          <p:cNvSpPr txBox="1"/>
          <p:nvPr/>
        </p:nvSpPr>
        <p:spPr>
          <a:xfrm>
            <a:off x="640080" y="2304288"/>
            <a:ext cx="2240280" cy="777240"/>
          </a:xfrm>
          <a:prstGeom prst="rect">
            <a:avLst/>
          </a:prstGeom>
          <a:noFill/>
          <a:ln/>
        </p:spPr>
        <p:txBody>
          <a:bodyPr wrap="square" lIns="0" tIns="0" rIns="0" bIns="0" rtlCol="0" anchor="t"/>
          <a:lstStyle/>
          <a:p>
            <a:pPr indent="0" marL="0">
              <a:buNone/>
            </a:pPr>
            <a:r>
              <a:rPr lang="en-US" sz="1100" dirty="0">
                <a:solidFill>
                  <a:schemeClr val="tx2"/>
                </a:solidFill>
              </a:rPr>
              <a:t>A larger, independently written question set per course, and quiz-quality ratings from students and faculty.</a:t>
            </a:r>
            <a:endParaRPr lang="en-US" sz="1100" dirty="0"/>
          </a:p>
        </p:txBody>
      </p:sp>
      <p:sp>
        <p:nvSpPr>
          <p:cNvPr id="9" name="Shape 6"/>
          <p:cNvSpPr/>
          <p:nvPr/>
        </p:nvSpPr>
        <p:spPr>
          <a:xfrm>
            <a:off x="3246120" y="1280160"/>
            <a:ext cx="2606040" cy="1828800"/>
          </a:xfrm>
          <a:prstGeom prst="roundRect">
            <a:avLst>
              <a:gd name="adj" fmla="val 4000"/>
            </a:avLst>
          </a:prstGeom>
          <a:solidFill>
            <a:schemeClr val="bg2"/>
          </a:solidFill>
          <a:ln w="9525">
            <a:solidFill>
              <a:schemeClr val="bg2"/>
            </a:solidFill>
            <a:prstDash val="solid"/>
          </a:ln>
        </p:spPr>
      </p:sp>
      <p:sp>
        <p:nvSpPr>
          <p:cNvPr id="10" name="Shape 7"/>
          <p:cNvSpPr/>
          <p:nvPr/>
        </p:nvSpPr>
        <p:spPr>
          <a:xfrm>
            <a:off x="3429000" y="1463040"/>
            <a:ext cx="438912" cy="438912"/>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3534339" y="1568379"/>
            <a:ext cx="228234" cy="228234"/>
          </a:xfrm>
          <a:prstGeom prst="rect">
            <a:avLst/>
          </a:prstGeom>
        </p:spPr>
      </p:pic>
      <p:sp>
        <p:nvSpPr>
          <p:cNvPr id="12" name="Text 8"/>
          <p:cNvSpPr txBox="1"/>
          <p:nvPr/>
        </p:nvSpPr>
        <p:spPr>
          <a:xfrm>
            <a:off x="3429000" y="2011680"/>
            <a:ext cx="2240280" cy="274320"/>
          </a:xfrm>
          <a:prstGeom prst="rect">
            <a:avLst/>
          </a:prstGeom>
          <a:noFill/>
          <a:ln/>
        </p:spPr>
        <p:txBody>
          <a:bodyPr wrap="square" lIns="0" tIns="0" rIns="0" bIns="0" rtlCol="0" anchor="t"/>
          <a:lstStyle/>
          <a:p>
            <a:pPr indent="0" marL="0">
              <a:buNone/>
            </a:pPr>
            <a:r>
              <a:rPr lang="en-US" sz="1400" b="1" dirty="0">
                <a:solidFill>
                  <a:schemeClr val="tx1"/>
                </a:solidFill>
              </a:rPr>
              <a:t>Stronger verification</a:t>
            </a:r>
            <a:endParaRPr lang="en-US" sz="1400" dirty="0"/>
          </a:p>
        </p:txBody>
      </p:sp>
      <p:sp>
        <p:nvSpPr>
          <p:cNvPr id="13" name="Text 9"/>
          <p:cNvSpPr txBox="1"/>
          <p:nvPr/>
        </p:nvSpPr>
        <p:spPr>
          <a:xfrm>
            <a:off x="3429000" y="2304288"/>
            <a:ext cx="2240280" cy="777240"/>
          </a:xfrm>
          <a:prstGeom prst="rect">
            <a:avLst/>
          </a:prstGeom>
          <a:noFill/>
          <a:ln/>
        </p:spPr>
        <p:txBody>
          <a:bodyPr wrap="square" lIns="0" tIns="0" rIns="0" bIns="0" rtlCol="0" anchor="t"/>
          <a:lstStyle/>
          <a:p>
            <a:pPr indent="0" marL="0">
              <a:buNone/>
            </a:pPr>
            <a:r>
              <a:rPr lang="en-US" sz="1100" dirty="0">
                <a:solidFill>
                  <a:schemeClr val="tx2"/>
                </a:solidFill>
              </a:rPr>
              <a:t>Use an entailment (NLI) model next to the lexical check, so paraphrased claims are verified too.</a:t>
            </a:r>
            <a:endParaRPr lang="en-US" sz="1100" dirty="0"/>
          </a:p>
        </p:txBody>
      </p:sp>
      <p:sp>
        <p:nvSpPr>
          <p:cNvPr id="14" name="Shape 10"/>
          <p:cNvSpPr/>
          <p:nvPr/>
        </p:nvSpPr>
        <p:spPr>
          <a:xfrm>
            <a:off x="6035040" y="1280160"/>
            <a:ext cx="2606040" cy="1828800"/>
          </a:xfrm>
          <a:prstGeom prst="roundRect">
            <a:avLst>
              <a:gd name="adj" fmla="val 4000"/>
            </a:avLst>
          </a:prstGeom>
          <a:solidFill>
            <a:schemeClr val="bg2"/>
          </a:solidFill>
          <a:ln w="9525">
            <a:solidFill>
              <a:schemeClr val="bg2"/>
            </a:solidFill>
            <a:prstDash val="solid"/>
          </a:ln>
        </p:spPr>
      </p:sp>
      <p:sp>
        <p:nvSpPr>
          <p:cNvPr id="15" name="Shape 11"/>
          <p:cNvSpPr/>
          <p:nvPr/>
        </p:nvSpPr>
        <p:spPr>
          <a:xfrm>
            <a:off x="6217920" y="1463040"/>
            <a:ext cx="438912" cy="438912"/>
          </a:xfrm>
          <a:prstGeom prst="ellipse">
            <a:avLst/>
          </a:prstGeom>
          <a:solidFill>
            <a:srgbClr val="4F46E5"/>
          </a:solidFill>
          <a:ln w="12700">
            <a:solidFill>
              <a:srgbClr val="4F46E5"/>
            </a:solidFill>
            <a:prstDash val="solid"/>
          </a:ln>
        </p:spPr>
      </p:sp>
      <p:pic>
        <p:nvPicPr>
          <p:cNvPr id="16" name="Image 2" descr="preencoded.png">    </p:cNvPr>
          <p:cNvPicPr>
            <a:picLocks noChangeAspect="1"/>
          </p:cNvPicPr>
          <p:nvPr/>
        </p:nvPicPr>
        <p:blipFill>
          <a:blip r:embed="rId3"/>
          <a:stretch>
            <a:fillRect/>
          </a:stretch>
        </p:blipFill>
        <p:spPr>
          <a:xfrm>
            <a:off x="6323259" y="1568379"/>
            <a:ext cx="228234" cy="228234"/>
          </a:xfrm>
          <a:prstGeom prst="rect">
            <a:avLst/>
          </a:prstGeom>
        </p:spPr>
      </p:pic>
      <p:sp>
        <p:nvSpPr>
          <p:cNvPr id="17" name="Text 12"/>
          <p:cNvSpPr txBox="1"/>
          <p:nvPr/>
        </p:nvSpPr>
        <p:spPr>
          <a:xfrm>
            <a:off x="6217920" y="2011680"/>
            <a:ext cx="2240280" cy="274320"/>
          </a:xfrm>
          <a:prstGeom prst="rect">
            <a:avLst/>
          </a:prstGeom>
          <a:noFill/>
          <a:ln/>
        </p:spPr>
        <p:txBody>
          <a:bodyPr wrap="square" lIns="0" tIns="0" rIns="0" bIns="0" rtlCol="0" anchor="t"/>
          <a:lstStyle/>
          <a:p>
            <a:pPr indent="0" marL="0">
              <a:buNone/>
            </a:pPr>
            <a:r>
              <a:rPr lang="en-US" sz="1400" b="1" dirty="0">
                <a:solidFill>
                  <a:schemeClr val="tx1"/>
                </a:solidFill>
              </a:rPr>
              <a:t>Better student model</a:t>
            </a:r>
            <a:endParaRPr lang="en-US" sz="1400" dirty="0"/>
          </a:p>
        </p:txBody>
      </p:sp>
      <p:sp>
        <p:nvSpPr>
          <p:cNvPr id="18" name="Text 13"/>
          <p:cNvSpPr txBox="1"/>
          <p:nvPr/>
        </p:nvSpPr>
        <p:spPr>
          <a:xfrm>
            <a:off x="6217920" y="2304288"/>
            <a:ext cx="2240280" cy="777240"/>
          </a:xfrm>
          <a:prstGeom prst="rect">
            <a:avLst/>
          </a:prstGeom>
          <a:noFill/>
          <a:ln/>
        </p:spPr>
        <p:txBody>
          <a:bodyPr wrap="square" lIns="0" tIns="0" rIns="0" bIns="0" rtlCol="0" anchor="t"/>
          <a:lstStyle/>
          <a:p>
            <a:pPr indent="0" marL="0">
              <a:buNone/>
            </a:pPr>
            <a:r>
              <a:rPr lang="en-US" sz="1100" dirty="0">
                <a:solidFill>
                  <a:schemeClr val="tx2"/>
                </a:solidFill>
              </a:rPr>
              <a:t>Replace the moving-average mastery with Bayesian knowledge tracing and spaced-repetition scheduling.</a:t>
            </a:r>
            <a:endParaRPr lang="en-US" sz="1100" dirty="0"/>
          </a:p>
        </p:txBody>
      </p:sp>
      <p:sp>
        <p:nvSpPr>
          <p:cNvPr id="19" name="Text 14"/>
          <p:cNvSpPr txBox="1"/>
          <p:nvPr/>
        </p:nvSpPr>
        <p:spPr>
          <a:xfrm>
            <a:off x="457200" y="3337560"/>
            <a:ext cx="8229600" cy="228600"/>
          </a:xfrm>
          <a:prstGeom prst="rect">
            <a:avLst/>
          </a:prstGeom>
          <a:noFill/>
          <a:ln/>
        </p:spPr>
        <p:txBody>
          <a:bodyPr wrap="square" lIns="0" tIns="0" rIns="0" bIns="0" rtlCol="0" anchor="t"/>
          <a:lstStyle/>
          <a:p>
            <a:pPr indent="0" marL="0">
              <a:buNone/>
            </a:pPr>
            <a:r>
              <a:rPr lang="en-US" sz="1000" b="1" spc="300" kern="0" dirty="0">
                <a:solidFill>
                  <a:schemeClr val="accent4"/>
                </a:solidFill>
              </a:rPr>
              <a:t>KNOWN LIMITATIONS</a:t>
            </a:r>
            <a:endParaRPr lang="en-US" sz="1000" dirty="0"/>
          </a:p>
        </p:txBody>
      </p:sp>
      <p:sp>
        <p:nvSpPr>
          <p:cNvPr id="20" name="Text 15"/>
          <p:cNvSpPr txBox="1"/>
          <p:nvPr/>
        </p:nvSpPr>
        <p:spPr>
          <a:xfrm>
            <a:off x="457200" y="3611880"/>
            <a:ext cx="8229600" cy="1051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2"/>
                </a:solidFill>
              </a:rPr>
              <a:t>Evaluation scale: 10 benchmark questions over 4 synthetic lecture PDFs; results need confirming on real course material.</a:t>
            </a:r>
            <a:endParaRPr lang="en-US" sz="1100" dirty="0"/>
          </a:p>
          <a:p>
            <a:pPr marL="342900" indent="-342900">
              <a:spcAft>
                <a:spcPts val="400"/>
              </a:spcAft>
              <a:buSzPct val="100000"/>
              <a:buChar char="•"/>
            </a:pPr>
            <a:r>
              <a:rPr lang="en-US" sz="1100" dirty="0">
                <a:solidFill>
                  <a:schemeClr val="tx2"/>
                </a:solidFill>
              </a:rPr>
              <a:t>A 7B model still varies run to run: answers may cite few sentences (completion fills the gap), and two distractors can look nearly identical once rendered.</a:t>
            </a:r>
            <a:endParaRPr lang="en-US" sz="1100" dirty="0"/>
          </a:p>
          <a:p>
            <a:pPr marL="342900" indent="-342900">
              <a:spcAft>
                <a:spcPts val="400"/>
              </a:spcAft>
              <a:buSzPct val="100000"/>
              <a:buChar char="•"/>
            </a:pPr>
            <a:r>
              <a:rPr lang="en-US" sz="1100" dirty="0">
                <a:solidFill>
                  <a:schemeClr val="tx2"/>
                </a:solidFill>
              </a:rPr>
              <a:t>Formula OCR can misread symbols (γ̂ read as Ŷ), and the lexical page check cannot verify paraphrased claims.</a:t>
            </a:r>
            <a:endParaRPr lang="en-US" sz="1100" dirty="0"/>
          </a:p>
        </p:txBody>
      </p:sp>
      <p:sp>
        <p:nvSpPr>
          <p:cNvPr id="25" name="Slide Number Placeholder 0"/>
          <p:cNvSpPr>
            <a:spLocks noGrp="1"/>
          </p:cNvSpPr>
          <p:nvPr>
            <p:ph type="sldNum" sz="quarter" idx="4294967295"/>
          </p:nvPr>
        </p:nvSpPr>
        <p:spPr>
          <a:xfrm>
            <a:off x="8321040" y="4800600"/>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8046720" cy="274320"/>
          </a:xfrm>
          <a:prstGeom prst="rect">
            <a:avLst/>
          </a:prstGeom>
          <a:noFill/>
          <a:ln/>
        </p:spPr>
        <p:txBody>
          <a:bodyPr wrap="square" lIns="0" tIns="0" rIns="0" bIns="0" rtlCol="0"/>
          <a:lstStyle/>
          <a:p>
            <a:pPr indent="0" marL="0">
              <a:buNone/>
            </a:pPr>
            <a:r>
              <a:rPr lang="en-US" sz="1100" b="1" spc="400" kern="0" dirty="0">
                <a:solidFill>
                  <a:schemeClr val="accent2"/>
                </a:solidFill>
              </a:rPr>
              <a:t>THANK YOU</a:t>
            </a:r>
            <a:endParaRPr lang="en-US" sz="1100" dirty="0"/>
          </a:p>
        </p:txBody>
      </p:sp>
      <p:sp>
        <p:nvSpPr>
          <p:cNvPr id="3" name="Text 0"/>
          <p:cNvSpPr/>
          <p:nvPr>
            <p:ph idx="101" type="title" hasCustomPrompt="1"/>
          </p:nvPr>
        </p:nvSpPr>
        <p:spPr>
          <a:xfrm>
            <a:off x="548640" y="1280160"/>
            <a:ext cx="8046720" cy="109728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Questions and feedback welcome</a:t>
            </a:r>
            <a:endParaRPr lang="en-US" sz="3600" dirty="0"/>
          </a:p>
        </p:txBody>
      </p:sp>
      <p:sp>
        <p:nvSpPr>
          <p:cNvPr id="4" name="Text 2"/>
          <p:cNvSpPr txBox="1"/>
          <p:nvPr/>
        </p:nvSpPr>
        <p:spPr>
          <a:xfrm>
            <a:off x="548640" y="2743200"/>
            <a:ext cx="8046720" cy="274320"/>
          </a:xfrm>
          <a:prstGeom prst="rect">
            <a:avLst/>
          </a:prstGeom>
          <a:noFill/>
          <a:ln/>
        </p:spPr>
        <p:txBody>
          <a:bodyPr wrap="square" lIns="0" tIns="0" rIns="0" bIns="0" rtlCol="0" anchor="t"/>
          <a:lstStyle/>
          <a:p>
            <a:pPr indent="0" marL="0">
              <a:buNone/>
            </a:pPr>
            <a:r>
              <a:rPr lang="en-US" sz="1200" dirty="0">
                <a:solidFill>
                  <a:schemeClr val="bg1"/>
                </a:solidFill>
              </a:rPr>
              <a:t>Royce B Selvaraj (24BCB0078)  ·  Srujan Buddharaju (24BDS0347)  ·  Pranali Kamisetty ([Registration Number])</a:t>
            </a:r>
            <a:endParaRPr lang="en-US" sz="1200" dirty="0"/>
          </a:p>
        </p:txBody>
      </p:sp>
      <p:sp>
        <p:nvSpPr>
          <p:cNvPr id="5" name="Text 3"/>
          <p:cNvSpPr txBox="1"/>
          <p:nvPr/>
        </p:nvSpPr>
        <p:spPr>
          <a:xfrm>
            <a:off x="548640" y="3154680"/>
            <a:ext cx="8046720" cy="274320"/>
          </a:xfrm>
          <a:prstGeom prst="rect">
            <a:avLst/>
          </a:prstGeom>
          <a:noFill/>
          <a:ln/>
        </p:spPr>
        <p:txBody>
          <a:bodyPr wrap="square" lIns="0" tIns="0" rIns="0" bIns="0" rtlCol="0" anchor="t"/>
          <a:lstStyle/>
          <a:p>
            <a:pPr indent="0" marL="0">
              <a:buNone/>
            </a:pPr>
            <a:r>
              <a:rPr lang="en-US" sz="1200" b="1" dirty="0">
                <a:solidFill>
                  <a:schemeClr val="accent2"/>
                </a:solidFill>
              </a:rPr>
              <a:t>github.com/RoyceRRNS/AI_Project</a:t>
            </a:r>
            <a:endParaRPr lang="en-US" sz="1200" dirty="0"/>
          </a:p>
        </p:txBody>
      </p:sp>
      <p:sp>
        <p:nvSpPr>
          <p:cNvPr id="6" name="Shape 4"/>
          <p:cNvSpPr/>
          <p:nvPr/>
        </p:nvSpPr>
        <p:spPr>
          <a:xfrm>
            <a:off x="548640" y="3749040"/>
            <a:ext cx="502920" cy="502920"/>
          </a:xfrm>
          <a:prstGeom prst="ellipse">
            <a:avLst/>
          </a:prstGeom>
          <a:solidFill>
            <a:srgbClr val="059669"/>
          </a:solidFill>
          <a:ln w="12700">
            <a:solidFill>
              <a:srgbClr val="059669"/>
            </a:solidFill>
            <a:prstDash val="solid"/>
          </a:ln>
        </p:spPr>
      </p:sp>
      <p:pic>
        <p:nvPicPr>
          <p:cNvPr id="7" name="Image 0" descr="preencoded.png">    </p:cNvPr>
          <p:cNvPicPr>
            <a:picLocks noChangeAspect="1"/>
          </p:cNvPicPr>
          <p:nvPr/>
        </p:nvPicPr>
        <p:blipFill>
          <a:blip r:embed="rId1"/>
          <a:stretch>
            <a:fillRect/>
          </a:stretch>
        </p:blipFill>
        <p:spPr>
          <a:xfrm>
            <a:off x="669341" y="3869741"/>
            <a:ext cx="261518" cy="261518"/>
          </a:xfrm>
          <a:prstGeom prst="rect">
            <a:avLst/>
          </a:prstGeom>
        </p:spPr>
      </p:pic>
      <p:sp>
        <p:nvSpPr>
          <p:cNvPr id="8" name="Shape 5"/>
          <p:cNvSpPr/>
          <p:nvPr/>
        </p:nvSpPr>
        <p:spPr>
          <a:xfrm>
            <a:off x="1234440" y="3749040"/>
            <a:ext cx="502920" cy="502920"/>
          </a:xfrm>
          <a:prstGeom prst="ellipse">
            <a:avLst/>
          </a:prstGeom>
          <a:solidFill>
            <a:srgbClr val="4F46E5"/>
          </a:solidFill>
          <a:ln w="12700">
            <a:solidFill>
              <a:srgbClr val="4F46E5"/>
            </a:solidFill>
            <a:prstDash val="solid"/>
          </a:ln>
        </p:spPr>
      </p:sp>
      <p:pic>
        <p:nvPicPr>
          <p:cNvPr id="9" name="Image 1" descr="preencoded.png">    </p:cNvPr>
          <p:cNvPicPr>
            <a:picLocks noChangeAspect="1"/>
          </p:cNvPicPr>
          <p:nvPr/>
        </p:nvPicPr>
        <p:blipFill>
          <a:blip r:embed="rId2"/>
          <a:stretch>
            <a:fillRect/>
          </a:stretch>
        </p:blipFill>
        <p:spPr>
          <a:xfrm>
            <a:off x="1355141" y="3869741"/>
            <a:ext cx="261518" cy="261518"/>
          </a:xfrm>
          <a:prstGeom prst="rect">
            <a:avLst/>
          </a:prstGeom>
        </p:spPr>
      </p:pic>
      <p:sp>
        <p:nvSpPr>
          <p:cNvPr id="10" name="Shape 6"/>
          <p:cNvSpPr/>
          <p:nvPr/>
        </p:nvSpPr>
        <p:spPr>
          <a:xfrm>
            <a:off x="1920240" y="3749040"/>
            <a:ext cx="502920" cy="502920"/>
          </a:xfrm>
          <a:prstGeom prst="ellipse">
            <a:avLst/>
          </a:prstGeom>
          <a:solidFill>
            <a:srgbClr val="D97706"/>
          </a:solidFill>
          <a:ln w="12700">
            <a:solidFill>
              <a:srgbClr val="D97706"/>
            </a:solidFill>
            <a:prstDash val="solid"/>
          </a:ln>
        </p:spPr>
      </p:sp>
      <p:pic>
        <p:nvPicPr>
          <p:cNvPr id="11" name="Image 2" descr="preencoded.png">    </p:cNvPr>
          <p:cNvPicPr>
            <a:picLocks noChangeAspect="1"/>
          </p:cNvPicPr>
          <p:nvPr/>
        </p:nvPicPr>
        <p:blipFill>
          <a:blip r:embed="rId3"/>
          <a:stretch>
            <a:fillRect/>
          </a:stretch>
        </p:blipFill>
        <p:spPr>
          <a:xfrm>
            <a:off x="2040941" y="3869741"/>
            <a:ext cx="261518" cy="261518"/>
          </a:xfrm>
          <a:prstGeom prst="rect">
            <a:avLst/>
          </a:prstGeom>
        </p:spPr>
      </p:pic>
    </p:spTree>
  </p:cSld>
  <p:clrMapOvr>
    <a:masterClrMapping/>
  </p:clrMapOvr>
</p:sld>
</file>

<file path=ppt/theme/theme1.xml><?xml version="1.0" encoding="utf-8"?>
<a:theme xmlns:a="http://schemas.openxmlformats.org/drawingml/2006/main" name="Course Notes Studio">
  <a:themeElements>
    <a:clrScheme name="Course Notes Studio">
      <a:dk1>
        <a:srgbClr val="0F172A"/>
      </a:dk1>
      <a:lt1>
        <a:srgbClr val="FFFFFF"/>
      </a:lt1>
      <a:dk2>
        <a:srgbClr val="475569"/>
      </a:dk2>
      <a:lt2>
        <a:srgbClr val="EEF2F7"/>
      </a:lt2>
      <a:accent1>
        <a:srgbClr val="4F46E5"/>
      </a:accent1>
      <a:accent2>
        <a:srgbClr val="0D9488"/>
      </a:accent2>
      <a:accent3>
        <a:srgbClr val="D97706"/>
      </a:accent3>
      <a:accent4>
        <a:srgbClr val="DC2626"/>
      </a:accent4>
      <a:accent5>
        <a:srgbClr val="7C3AED"/>
      </a:accent5>
      <a:accent6>
        <a:srgbClr val="059669"/>
      </a:accent6>
      <a:hlink>
        <a:srgbClr val="4F46E5"/>
      </a:hlink>
      <a:folHlink>
        <a:srgbClr val="7C3AED"/>
      </a:folHlink>
    </a:clrScheme>
    <a:fontScheme name="Course Notes 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Notes RAG &amp; Adaptive Quiz Engine - Implementation and Demo</dc:title>
  <dc:subject>BCSE306L Artificial Intelligence project</dc:subject>
  <dc:creator>Royce B Selvaraj, Srujan Buddharaju, Pranali Kamisetty</dc:creator>
  <cp:lastModifiedBy>Royce B Selvaraj, Srujan Buddharaju, Pranali Kamisetty</cp:lastModifiedBy>
  <cp:revision>1</cp:revision>
  <dcterms:created xsi:type="dcterms:W3CDTF">2026-10-28T17:33:10Z</dcterms:created>
  <dcterms:modified xsi:type="dcterms:W3CDTF">2026-10-28T17:33:10Z</dcterms:modified>
</cp:coreProperties>
</file>